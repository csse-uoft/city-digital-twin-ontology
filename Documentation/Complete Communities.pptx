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notesMasterIdLst>
    <p:notesMasterId r:id="rId26"/>
  </p:notesMasterIdLst>
  <p:handoutMasterIdLst>
    <p:handoutMasterId r:id="rId27"/>
  </p:handoutMasterIdLst>
  <p:sldIdLst>
    <p:sldId id="278" r:id="rId5"/>
    <p:sldId id="280" r:id="rId6"/>
    <p:sldId id="312" r:id="rId7"/>
    <p:sldId id="313" r:id="rId8"/>
    <p:sldId id="314" r:id="rId9"/>
    <p:sldId id="294" r:id="rId10"/>
    <p:sldId id="306" r:id="rId11"/>
    <p:sldId id="308" r:id="rId12"/>
    <p:sldId id="310" r:id="rId13"/>
    <p:sldId id="307" r:id="rId14"/>
    <p:sldId id="309" r:id="rId15"/>
    <p:sldId id="295" r:id="rId16"/>
    <p:sldId id="296" r:id="rId17"/>
    <p:sldId id="297" r:id="rId18"/>
    <p:sldId id="298" r:id="rId19"/>
    <p:sldId id="299" r:id="rId20"/>
    <p:sldId id="300" r:id="rId21"/>
    <p:sldId id="301" r:id="rId22"/>
    <p:sldId id="302" r:id="rId23"/>
    <p:sldId id="303" r:id="rId24"/>
    <p:sldId id="305" r:id="rId2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6"/>
    <a:srgbClr val="202C8F"/>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547E7E-C5E5-93B4-8EC8-B4FCB5927FDF}" v="793" dt="2023-12-13T22:05:36.157"/>
    <p1510:client id="{189BE703-2545-53C3-5A3B-AE71EAE6EA63}" v="261" dt="2023-11-01T18:28:08.698"/>
    <p1510:client id="{2C4172A9-55AD-587E-ABB2-F0D23ADE0905}" v="2" dt="2023-11-29T16:19:20.124"/>
    <p1510:client id="{4D715543-6BDB-4D8D-AEB0-7278D052210D}" v="811" dt="2023-10-18T20:40:07.566"/>
    <p1510:client id="{54CFF577-5B5E-2668-9941-EB1E4747015D}" v="1357" dt="2024-01-11T18:23:11.742"/>
    <p1510:client id="{BFC14D60-529E-746F-58EF-CE5822DE1B35}" v="288" dt="2023-10-25T20:29:18.571"/>
    <p1510:client id="{C1C46D7D-4EDD-087F-1571-675760F9DA4A}" v="117" dt="2023-11-08T19:59:53.230"/>
  </p1510:revLst>
</p1510:revInfo>
</file>

<file path=ppt/tableStyles.xml><?xml version="1.0" encoding="utf-8"?>
<a:tblStyleLst xmlns:a="http://schemas.openxmlformats.org/drawingml/2006/main" def="{5DA37D80-6434-44D0-A028-1B22A696006F}">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0" autoAdjust="0"/>
    <p:restoredTop sz="94609" autoAdjust="0"/>
  </p:normalViewPr>
  <p:slideViewPr>
    <p:cSldViewPr snapToGrid="0" snapToObjects="1">
      <p:cViewPr>
        <p:scale>
          <a:sx n="100" d="100"/>
          <a:sy n="100" d="100"/>
        </p:scale>
        <p:origin x="-720" y="-590"/>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4" d="100"/>
          <a:sy n="24" d="100"/>
        </p:scale>
        <p:origin x="3475" y="125"/>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D9D42D35-0463-4920-BEF7-2B88080E67A2}" type="datetimeFigureOut">
              <a:rPr lang="en-US" smtClean="0"/>
              <a:t>3/19/2026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02926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dirty="0"/>
              <a:t>Click to edit Master title style</a:t>
            </a:r>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9AB3A824-1A51-4B26-AD58-A6D8E14F6C04}" type="datetimeFigureOut">
              <a:rPr lang="en-US" dirty="0"/>
              <a:t>3/19/2026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56750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D162C4-EDD9-4389-A98B-B87ECEA2A816}" type="datetimeFigureOut">
              <a:rPr lang="en-US" dirty="0"/>
              <a:t>3/19/2026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205996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dirty="0"/>
              <a:t>Click to edit Master title style</a:t>
            </a:r>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3/19/2026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8829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dirty="0"/>
              <a:t>Click to edit Master title style</a:t>
            </a:r>
          </a:p>
        </p:txBody>
      </p:sp>
      <p:sp>
        <p:nvSpPr>
          <p:cNvPr id="3" name="Content Placeholder 2"/>
          <p:cNvSpPr>
            <a:spLocks noGrp="1"/>
          </p:cNvSpPr>
          <p:nvPr>
            <p:ph sz="half" idx="1"/>
          </p:nvPr>
        </p:nvSpPr>
        <p:spPr>
          <a:xfrm>
            <a:off x="2605374" y="2052116"/>
            <a:ext cx="3891960" cy="399782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666636" y="2052114"/>
            <a:ext cx="3894222" cy="399782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A954B2F-12DE-47F5-8894-472B206D2E1E}" type="datetimeFigureOut">
              <a:rPr lang="en-US" dirty="0"/>
              <a:t>3/19/2026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501510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dirty="0"/>
              <a:t>Click to edit Master title style</a:t>
            </a:r>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3F30E46F-7819-4ACF-B48B-48222C2ACC88}" type="datetimeFigureOut">
              <a:rPr lang="en-US" dirty="0"/>
              <a:t>3/19/2026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7570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dirty="0"/>
              <a:t>3/19/2026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46542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3/19/2026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26461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5120154" y="805818"/>
            <a:ext cx="5446278" cy="5244126"/>
          </a:xfrm>
        </p:spPr>
        <p:txBody>
          <a:bodyPr anchor="ct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3/19/2026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41814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dirty="0"/>
              <a:t>Click to edit Master title style</a:t>
            </a:r>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3/19/2026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88815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857E33E-8B18-4087-B112-809917729534}" type="datetimeFigureOut">
              <a:rPr lang="en-US" dirty="0"/>
              <a:t>3/19/2026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78224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dirty="0"/>
              <a:t>Click to edit Master title style</a:t>
            </a:r>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3FFE419-2371-464F-8239-3959401C3561}" type="datetimeFigureOut">
              <a:rPr lang="en-US" dirty="0"/>
              <a:t>3/19/2026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806758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1499616" y="89452"/>
            <a:ext cx="5693664" cy="2580596"/>
          </a:xfrm>
        </p:spPr>
        <p:txBody>
          <a:bodyPr>
            <a:noAutofit/>
          </a:bodyPr>
          <a:lstStyle>
            <a:lvl1pPr algn="l">
              <a:lnSpc>
                <a:spcPct val="100000"/>
              </a:lnSpc>
              <a:defRPr/>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1499616" y="2770632"/>
            <a:ext cx="5693664" cy="3122168"/>
          </a:xfrm>
        </p:spPr>
        <p:txBody>
          <a:bodyPr>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81803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 uri="{C183D7F6-B498-43B3-948B-1728B52AA6E4}">
                <adec:decorative xmlns:adec="http://schemas.microsoft.com/office/drawing/2017/decorative" val="1"/>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chemeClr val="accent3">
              <a:lumMod val="20000"/>
              <a:lumOff val="80000"/>
            </a:schemeClr>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oAutofit/>
          </a:bodyPr>
          <a:lstStyle>
            <a:lvl1pPr>
              <a:lnSpc>
                <a:spcPct val="100000"/>
              </a:lnSpc>
              <a:defRPr/>
            </a:lvl1pPr>
          </a:lstStyle>
          <a:p>
            <a:r>
              <a:rPr lang="en-US" dirty="0"/>
              <a:t>Click to add title</a:t>
            </a:r>
          </a:p>
        </p:txBody>
      </p:sp>
      <p:sp>
        <p:nvSpPr>
          <p:cNvPr id="6" name="Footer Placeholder 5"/>
          <p:cNvSpPr>
            <a:spLocks noGrp="1"/>
          </p:cNvSpPr>
          <p:nvPr>
            <p:ph type="ftr" sz="quarter" idx="11"/>
          </p:nvPr>
        </p:nvSpPr>
        <p:spPr/>
        <p:txBody>
          <a:bodyPr>
            <a:noAutofit/>
          </a:bodyPr>
          <a:lstStyle>
            <a:lvl1pPr>
              <a:defRPr>
                <a:latin typeface="+mn-lt"/>
              </a:defRPr>
            </a:lvl1pPr>
          </a:lstStyle>
          <a:p>
            <a:r>
              <a:rPr lang="en-US" dirty="0"/>
              <a:t>Presentation title</a:t>
            </a:r>
          </a:p>
        </p:txBody>
      </p:sp>
      <p:sp>
        <p:nvSpPr>
          <p:cNvPr id="7" name="Slide Number Placeholder 6"/>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3" name="Content Placeholder 2"/>
          <p:cNvSpPr>
            <a:spLocks noGrp="1"/>
          </p:cNvSpPr>
          <p:nvPr>
            <p:ph sz="half" idx="1" hasCustomPrompt="1"/>
          </p:nvPr>
        </p:nvSpPr>
        <p:spPr>
          <a:xfrm>
            <a:off x="755904" y="2825496"/>
            <a:ext cx="10680192" cy="2834640"/>
          </a:xfrm>
        </p:spPr>
        <p:txBody>
          <a:bodyPr>
            <a:normAutofit/>
          </a:bodyPr>
          <a:lstStyle>
            <a:lvl1pPr>
              <a:defRPr sz="1800"/>
            </a:lvl1pPr>
            <a:lvl2pPr>
              <a:defRPr sz="1600"/>
            </a:lvl2pPr>
            <a:lvl3pPr>
              <a:defRPr sz="14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37392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4441121" y="1344404"/>
            <a:ext cx="6984906" cy="2560441"/>
          </a:xfrm>
        </p:spPr>
        <p:txBody>
          <a:bodyPr lIns="0" tIns="0" rIns="0" bIns="0" anchor="b" anchorCtr="0">
            <a:noAutofit/>
          </a:bodyPr>
          <a:lstStyle>
            <a:lvl1pPr algn="l">
              <a:lnSpc>
                <a:spcPct val="100000"/>
              </a:lnSpc>
              <a:defRPr sz="3300" b="1">
                <a:latin typeface="+mj-lt"/>
                <a:cs typeface="Arial" panose="020B0604020202020204" pitchFamily="34" charset="0"/>
              </a:defRPr>
            </a:lvl1pPr>
          </a:lstStyle>
          <a:p>
            <a:r>
              <a:rPr lang="en-US" dirty="0"/>
              <a:t>Click to add title</a:t>
            </a:r>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347664"/>
            <a:ext cx="768096" cy="1882471"/>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hasCustomPrompt="1"/>
          </p:nvPr>
        </p:nvSpPr>
        <p:spPr>
          <a:xfrm>
            <a:off x="4441120" y="3977196"/>
            <a:ext cx="4971237" cy="864804"/>
          </a:xfrm>
        </p:spPr>
        <p:txBody>
          <a:bodyPr lIns="0" tIns="0" rIns="0" bIns="0" anchor="ctr" anchorCtr="0">
            <a:noAutofit/>
          </a:bodyPr>
          <a:lstStyle>
            <a:lvl1pPr marL="0" indent="0">
              <a:buNone/>
              <a:defRPr sz="2400"/>
            </a:lvl1pPr>
          </a:lstStyle>
          <a:p>
            <a:r>
              <a:rPr lang="en-US" dirty="0"/>
              <a:t>Click to add subtitle</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Tree>
    <p:extLst>
      <p:ext uri="{BB962C8B-B14F-4D97-AF65-F5344CB8AC3E}">
        <p14:creationId xmlns:p14="http://schemas.microsoft.com/office/powerpoint/2010/main" val="311707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hasCustomPrompt="1"/>
          </p:nvPr>
        </p:nvSpPr>
        <p:spPr>
          <a:xfrm>
            <a:off x="758952" y="751398"/>
            <a:ext cx="10671048" cy="1362057"/>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lvl1pPr>
              <a:defRPr>
                <a:latin typeface="+mn-lt"/>
              </a:defRPr>
            </a:lvl1pPr>
          </a:lstStyle>
          <a:p>
            <a:r>
              <a:rPr lang="en-US" dirty="0"/>
              <a:t>Presentation title</a:t>
            </a:r>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dirty="0"/>
              <a:t>Click icon to add picture</a:t>
            </a:r>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Click to add text</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dirty="0"/>
              <a:t>Click icon to add picture</a:t>
            </a:r>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Click to add text</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dirty="0"/>
              <a:t>Click icon to add picture</a:t>
            </a:r>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Click to add text</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t">
            <a:noAutofit/>
          </a:bodyPr>
          <a:lstStyle>
            <a:lvl1pPr marL="0" indent="0" algn="ctr">
              <a:buNone/>
              <a:defRPr sz="1400"/>
            </a:lvl1pPr>
          </a:lstStyle>
          <a:p>
            <a:r>
              <a:rPr lang="en-US" dirty="0"/>
              <a:t>Click icon to add picture</a:t>
            </a:r>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0" cap="all" baseline="0">
                <a:solidFill>
                  <a:schemeClr val="accent6"/>
                </a:solidFill>
                <a:latin typeface="+mj-lt"/>
                <a:cs typeface="Arial" panose="020B0604020202020204" pitchFamily="34" charset="0"/>
              </a:defRPr>
            </a:lvl1pPr>
          </a:lstStyle>
          <a:p>
            <a:pPr lvl="0"/>
            <a:r>
              <a:rPr lang="en-US" dirty="0"/>
              <a:t>add text</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Click to add text</a:t>
            </a:r>
          </a:p>
        </p:txBody>
      </p:sp>
    </p:spTree>
    <p:extLst>
      <p:ext uri="{BB962C8B-B14F-4D97-AF65-F5344CB8AC3E}">
        <p14:creationId xmlns:p14="http://schemas.microsoft.com/office/powerpoint/2010/main" val="4121517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hasCustomPrompt="1"/>
          </p:nvPr>
        </p:nvSpPr>
        <p:spPr>
          <a:xfrm>
            <a:off x="760937" y="755729"/>
            <a:ext cx="10665089" cy="859972"/>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lvl1pPr>
              <a:defRPr>
                <a:latin typeface="+mn-lt"/>
              </a:defRPr>
            </a:lvl1pPr>
          </a:lstStyle>
          <a:p>
            <a:r>
              <a:rPr lang="en-US" dirty="0"/>
              <a:t>Presentation title</a:t>
            </a:r>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hasCustomPrompt="1"/>
          </p:nvPr>
        </p:nvSpPr>
        <p:spPr>
          <a:xfrm>
            <a:off x="1271016"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r>
              <a:rPr lang="en-US" dirty="0"/>
              <a:t>Click to add picture</a:t>
            </a:r>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320463"/>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hasCustomPrompt="1"/>
          </p:nvPr>
        </p:nvSpPr>
        <p:spPr>
          <a:xfrm>
            <a:off x="1271016"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919391"/>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hasCustomPrompt="1"/>
          </p:nvPr>
        </p:nvSpPr>
        <p:spPr>
          <a:xfrm>
            <a:off x="3828288"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320463"/>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hasCustomPrompt="1"/>
          </p:nvPr>
        </p:nvSpPr>
        <p:spPr>
          <a:xfrm>
            <a:off x="3828288"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919391"/>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hasCustomPrompt="1"/>
          </p:nvPr>
        </p:nvSpPr>
        <p:spPr>
          <a:xfrm>
            <a:off x="6385560"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320463"/>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hasCustomPrompt="1"/>
          </p:nvPr>
        </p:nvSpPr>
        <p:spPr>
          <a:xfrm>
            <a:off x="6385560"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919391"/>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hasCustomPrompt="1"/>
          </p:nvPr>
        </p:nvSpPr>
        <p:spPr>
          <a:xfrm>
            <a:off x="8942832" y="1674543"/>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320463"/>
            <a:ext cx="2029968" cy="694944"/>
          </a:xfrm>
          <a:solidFill>
            <a:schemeClr val="accent1"/>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96472"/>
            <a:ext cx="2029968" cy="269240"/>
          </a:xfrm>
        </p:spPr>
        <p:txBody>
          <a:bodyPr anchor="t" anchorCtr="0">
            <a:normAutofit/>
          </a:bodyPr>
          <a:lstStyle>
            <a:lvl1pPr marL="0" indent="0" algn="ctr">
              <a:buNone/>
              <a:defRPr sz="1200" spc="20" baseline="0"/>
            </a:lvl1pPr>
          </a:lstStyle>
          <a:p>
            <a:pPr lvl="0"/>
            <a:r>
              <a:rPr lang="en-US" dirty="0"/>
              <a:t>Click to add text</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hasCustomPrompt="1"/>
          </p:nvPr>
        </p:nvSpPr>
        <p:spPr>
          <a:xfrm>
            <a:off x="8942832" y="4273471"/>
            <a:ext cx="2029968" cy="1828800"/>
          </a:xfrm>
          <a:solidFill>
            <a:schemeClr val="accent4">
              <a:lumMod val="60000"/>
              <a:lumOff val="40000"/>
            </a:schemeClr>
          </a:solidFill>
          <a:ln>
            <a:noFill/>
          </a:ln>
        </p:spPr>
        <p:txBody>
          <a:bodyPr anchor="t" anchorCtr="0">
            <a:noAutofit/>
          </a:bodyPr>
          <a:lstStyle>
            <a:lvl1pPr marL="0" indent="0" algn="ctr">
              <a:buNone/>
              <a:defRPr sz="1200"/>
            </a:lvl1pPr>
          </a:lstStyle>
          <a:p>
            <a:pPr marL="0" marR="0" lvl="0" indent="0" algn="ctr"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lang="en-US" dirty="0"/>
              <a:t>Click to add picture</a:t>
            </a:r>
          </a:p>
          <a:p>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919391"/>
            <a:ext cx="2029968" cy="694944"/>
          </a:xfrm>
          <a:solidFill>
            <a:schemeClr val="accent4"/>
          </a:solidFill>
        </p:spPr>
        <p:txBody>
          <a:bodyPr lIns="0" tIns="155448" rIns="0" anchor="t" anchorCtr="0">
            <a:normAutofit/>
          </a:bodyPr>
          <a:lstStyle>
            <a:lvl1pPr marL="0" indent="0" algn="ctr">
              <a:spcBef>
                <a:spcPts val="0"/>
              </a:spcBef>
              <a:buNone/>
              <a:defRPr sz="1400" b="0" cap="all" spc="20" baseline="0">
                <a:solidFill>
                  <a:schemeClr val="accent6"/>
                </a:solidFill>
                <a:latin typeface="+mj-lt"/>
                <a:cs typeface="Arial" panose="020B0604020202020204" pitchFamily="34" charset="0"/>
              </a:defRPr>
            </a:lvl1pPr>
          </a:lstStyle>
          <a:p>
            <a:pPr lvl="0"/>
            <a:r>
              <a:rPr lang="en-US" dirty="0"/>
              <a:t>Add Text</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95400"/>
            <a:ext cx="2029968" cy="269240"/>
          </a:xfrm>
        </p:spPr>
        <p:txBody>
          <a:bodyPr anchor="t" anchorCtr="0">
            <a:normAutofit/>
          </a:bodyPr>
          <a:lstStyle>
            <a:lvl1pPr marL="0" indent="0" algn="ctr">
              <a:buNone/>
              <a:defRPr sz="1200" spc="20" baseline="0"/>
            </a:lvl1pPr>
          </a:lstStyle>
          <a:p>
            <a:pPr lvl="0"/>
            <a:r>
              <a:rPr lang="en-US" dirty="0"/>
              <a:t>Click to add text</a:t>
            </a:r>
          </a:p>
        </p:txBody>
      </p:sp>
    </p:spTree>
    <p:extLst>
      <p:ext uri="{BB962C8B-B14F-4D97-AF65-F5344CB8AC3E}">
        <p14:creationId xmlns:p14="http://schemas.microsoft.com/office/powerpoint/2010/main" val="41523682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hasCustomPrompt="1"/>
          </p:nvPr>
        </p:nvSpPr>
        <p:spPr>
          <a:xfrm>
            <a:off x="758952" y="701702"/>
            <a:ext cx="10671048" cy="1444351"/>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lvl1pPr>
              <a:defRPr>
                <a:latin typeface="+mn-lt"/>
              </a:defRPr>
            </a:lvl1pPr>
          </a:lstStyle>
          <a:p>
            <a:r>
              <a:rPr lang="en-US" dirty="0"/>
              <a:t>Presentation title</a:t>
            </a:r>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7" name="Oval 6">
            <a:extLst>
              <a:ext uri="{FF2B5EF4-FFF2-40B4-BE49-F238E27FC236}">
                <a16:creationId xmlns:a16="http://schemas.microsoft.com/office/drawing/2014/main" id="{5C32B254-F115-AAF3-09C2-B631F5CDC4C7}"/>
              </a:ext>
              <a:ext uri="{C183D7F6-B498-43B3-948B-1728B52AA6E4}">
                <adec:decorative xmlns:adec="http://schemas.microsoft.com/office/drawing/2017/decorative" val="1"/>
              </a:ext>
            </a:extLst>
          </p:cNvPr>
          <p:cNvSpPr>
            <a:spLocks noChangeAspect="1"/>
          </p:cNvSpPr>
          <p:nvPr userDrawn="1"/>
        </p:nvSpPr>
        <p:spPr>
          <a:xfrm>
            <a:off x="1329989" y="2370268"/>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hasCustomPrompt="1"/>
          </p:nvPr>
        </p:nvSpPr>
        <p:spPr>
          <a:xfrm>
            <a:off x="1339134"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hasCustomPrompt="1"/>
          </p:nvPr>
        </p:nvSpPr>
        <p:spPr>
          <a:xfrm>
            <a:off x="685338"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46257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1598 h 2826771"/>
              <a:gd name="connsiteX1" fmla="*/ 646257 w 2011680"/>
              <a:gd name="connsiteY1" fmla="*/ 0 h 2826771"/>
              <a:gd name="connsiteX2" fmla="*/ 1358727 w 2011680"/>
              <a:gd name="connsiteY2" fmla="*/ 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46257 w 2011680"/>
              <a:gd name="connsiteY1" fmla="*/ 0 h 2826771"/>
              <a:gd name="connsiteX2" fmla="*/ 1010112 w 2011680"/>
              <a:gd name="connsiteY2" fmla="*/ 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46257 w 2011680"/>
              <a:gd name="connsiteY1" fmla="*/ 0 h 2826771"/>
              <a:gd name="connsiteX2" fmla="*/ 1012017 w 2011680"/>
              <a:gd name="connsiteY2" fmla="*/ 335280 h 2826771"/>
              <a:gd name="connsiteX3" fmla="*/ 1358727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46257" y="0"/>
                </a:lnTo>
                <a:cubicBezTo>
                  <a:pt x="699597" y="218440"/>
                  <a:pt x="783417" y="292100"/>
                  <a:pt x="1012017" y="335280"/>
                </a:cubicBezTo>
                <a:cubicBezTo>
                  <a:pt x="1289512" y="299720"/>
                  <a:pt x="1340312" y="106045"/>
                  <a:pt x="1358727" y="0"/>
                </a:cubicBezTo>
                <a:lnTo>
                  <a:pt x="2011680" y="1598"/>
                </a:lnTo>
                <a:lnTo>
                  <a:pt x="2011680" y="2826771"/>
                </a:lnTo>
                <a:lnTo>
                  <a:pt x="0" y="2826771"/>
                </a:lnTo>
                <a:lnTo>
                  <a:pt x="0" y="1598"/>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16" name="Rectangle 15">
            <a:extLst>
              <a:ext uri="{FF2B5EF4-FFF2-40B4-BE49-F238E27FC236}">
                <a16:creationId xmlns:a16="http://schemas.microsoft.com/office/drawing/2014/main" id="{B950ED98-B5D1-206C-403F-FA954F9D2CFF}"/>
              </a:ext>
              <a:ext uri="{C183D7F6-B498-43B3-948B-1728B52AA6E4}">
                <adec:decorative xmlns:adec="http://schemas.microsoft.com/office/drawing/2017/decorative" val="1"/>
              </a:ext>
            </a:extLst>
          </p:cNvPr>
          <p:cNvSpPr/>
          <p:nvPr userDrawn="1"/>
        </p:nvSpPr>
        <p:spPr>
          <a:xfrm>
            <a:off x="685338"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hasCustomPrompt="1"/>
          </p:nvPr>
        </p:nvSpPr>
        <p:spPr>
          <a:xfrm>
            <a:off x="731058"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8" name="Oval 7">
            <a:extLst>
              <a:ext uri="{FF2B5EF4-FFF2-40B4-BE49-F238E27FC236}">
                <a16:creationId xmlns:a16="http://schemas.microsoft.com/office/drawing/2014/main" id="{B2485599-A799-0E8C-D368-451B9DE022B2}"/>
              </a:ext>
              <a:ext uri="{C183D7F6-B498-43B3-948B-1728B52AA6E4}">
                <adec:decorative xmlns:adec="http://schemas.microsoft.com/office/drawing/2017/decorative" val="1"/>
              </a:ext>
            </a:extLst>
          </p:cNvPr>
          <p:cNvSpPr>
            <a:spLocks noChangeAspect="1"/>
          </p:cNvSpPr>
          <p:nvPr userDrawn="1"/>
        </p:nvSpPr>
        <p:spPr>
          <a:xfrm>
            <a:off x="3545563" y="2373190"/>
            <a:ext cx="722376" cy="722376"/>
          </a:xfrm>
          <a:prstGeom prst="ellipse">
            <a:avLst/>
          </a:prstGeom>
          <a:no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hasCustomPrompt="1"/>
          </p:nvPr>
        </p:nvSpPr>
        <p:spPr>
          <a:xfrm>
            <a:off x="3554707" y="2379412"/>
            <a:ext cx="704088" cy="704088"/>
          </a:xfrm>
          <a:prstGeom prst="ellipse">
            <a:avLst/>
          </a:prstGeom>
          <a:solidFill>
            <a:schemeClr val="accent3"/>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hasCustomPrompt="1"/>
          </p:nvPr>
        </p:nvSpPr>
        <p:spPr>
          <a:xfrm>
            <a:off x="2900910" y="2756536"/>
            <a:ext cx="2011680" cy="2828676"/>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2011680 w 2011680"/>
              <a:gd name="connsiteY2" fmla="*/ 4646 h 2829819"/>
              <a:gd name="connsiteX3" fmla="*/ 2011680 w 2011680"/>
              <a:gd name="connsiteY3" fmla="*/ 2829819 h 2829819"/>
              <a:gd name="connsiteX4" fmla="*/ 0 w 2011680"/>
              <a:gd name="connsiteY4" fmla="*/ 2829819 h 2829819"/>
              <a:gd name="connsiteX5" fmla="*/ 0 w 2011680"/>
              <a:gd name="connsiteY5" fmla="*/ 4646 h 2829819"/>
              <a:gd name="connsiteX0" fmla="*/ 0 w 2011680"/>
              <a:gd name="connsiteY0" fmla="*/ 4646 h 2829819"/>
              <a:gd name="connsiteX1" fmla="*/ 994434 w 2011680"/>
              <a:gd name="connsiteY1" fmla="*/ 0 h 2829819"/>
              <a:gd name="connsiteX2" fmla="*/ 1362480 w 2011680"/>
              <a:gd name="connsiteY2" fmla="*/ 3048 h 2829819"/>
              <a:gd name="connsiteX3" fmla="*/ 2011680 w 2011680"/>
              <a:gd name="connsiteY3" fmla="*/ 4646 h 2829819"/>
              <a:gd name="connsiteX4" fmla="*/ 2011680 w 2011680"/>
              <a:gd name="connsiteY4" fmla="*/ 2829819 h 2829819"/>
              <a:gd name="connsiteX5" fmla="*/ 0 w 2011680"/>
              <a:gd name="connsiteY5" fmla="*/ 2829819 h 2829819"/>
              <a:gd name="connsiteX6" fmla="*/ 0 w 2011680"/>
              <a:gd name="connsiteY6" fmla="*/ 4646 h 2829819"/>
              <a:gd name="connsiteX0" fmla="*/ 0 w 2011680"/>
              <a:gd name="connsiteY0" fmla="*/ 4646 h 2829819"/>
              <a:gd name="connsiteX1" fmla="*/ 651915 w 2011680"/>
              <a:gd name="connsiteY1" fmla="*/ 1143 h 2829819"/>
              <a:gd name="connsiteX2" fmla="*/ 994434 w 2011680"/>
              <a:gd name="connsiteY2" fmla="*/ 0 h 2829819"/>
              <a:gd name="connsiteX3" fmla="*/ 1362480 w 2011680"/>
              <a:gd name="connsiteY3" fmla="*/ 3048 h 2829819"/>
              <a:gd name="connsiteX4" fmla="*/ 2011680 w 2011680"/>
              <a:gd name="connsiteY4" fmla="*/ 4646 h 2829819"/>
              <a:gd name="connsiteX5" fmla="*/ 2011680 w 2011680"/>
              <a:gd name="connsiteY5" fmla="*/ 2829819 h 2829819"/>
              <a:gd name="connsiteX6" fmla="*/ 0 w 2011680"/>
              <a:gd name="connsiteY6" fmla="*/ 2829819 h 2829819"/>
              <a:gd name="connsiteX7" fmla="*/ 0 w 2011680"/>
              <a:gd name="connsiteY7" fmla="*/ 4646 h 2829819"/>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51915 w 2011680"/>
              <a:gd name="connsiteY1" fmla="*/ 0 h 2828676"/>
              <a:gd name="connsiteX2" fmla="*/ 1005864 w 2011680"/>
              <a:gd name="connsiteY2" fmla="*/ 336042 h 2828676"/>
              <a:gd name="connsiteX3" fmla="*/ 1362480 w 2011680"/>
              <a:gd name="connsiteY3" fmla="*/ 1905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8676">
                <a:moveTo>
                  <a:pt x="0" y="3503"/>
                </a:moveTo>
                <a:lnTo>
                  <a:pt x="651915" y="0"/>
                </a:lnTo>
                <a:cubicBezTo>
                  <a:pt x="665123" y="83439"/>
                  <a:pt x="720241" y="317373"/>
                  <a:pt x="1005864" y="336042"/>
                </a:cubicBezTo>
                <a:cubicBezTo>
                  <a:pt x="1248561" y="340868"/>
                  <a:pt x="1359813" y="80899"/>
                  <a:pt x="1362480" y="1905"/>
                </a:cubicBezTo>
                <a:lnTo>
                  <a:pt x="2011680" y="3503"/>
                </a:lnTo>
                <a:lnTo>
                  <a:pt x="2011680" y="2828676"/>
                </a:lnTo>
                <a:lnTo>
                  <a:pt x="0" y="2828676"/>
                </a:lnTo>
                <a:lnTo>
                  <a:pt x="0" y="3503"/>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18" name="Rectangle 17">
            <a:extLst>
              <a:ext uri="{FF2B5EF4-FFF2-40B4-BE49-F238E27FC236}">
                <a16:creationId xmlns:a16="http://schemas.microsoft.com/office/drawing/2014/main" id="{0E8643CE-01D9-3E5E-15F6-20689F775F15}"/>
              </a:ext>
              <a:ext uri="{C183D7F6-B498-43B3-948B-1728B52AA6E4}">
                <adec:decorative xmlns:adec="http://schemas.microsoft.com/office/drawing/2017/decorative" val="1"/>
              </a:ext>
            </a:extLst>
          </p:cNvPr>
          <p:cNvSpPr/>
          <p:nvPr userDrawn="1"/>
        </p:nvSpPr>
        <p:spPr>
          <a:xfrm>
            <a:off x="2900911" y="4064834"/>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hasCustomPrompt="1"/>
          </p:nvPr>
        </p:nvSpPr>
        <p:spPr>
          <a:xfrm>
            <a:off x="2946630"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9" name="Oval 8">
            <a:extLst>
              <a:ext uri="{FF2B5EF4-FFF2-40B4-BE49-F238E27FC236}">
                <a16:creationId xmlns:a16="http://schemas.microsoft.com/office/drawing/2014/main" id="{944D3449-0EF5-D439-CC36-5C761D35D494}"/>
              </a:ext>
              <a:ext uri="{C183D7F6-B498-43B3-948B-1728B52AA6E4}">
                <adec:decorative xmlns:adec="http://schemas.microsoft.com/office/drawing/2017/decorative" val="1"/>
              </a:ext>
            </a:extLst>
          </p:cNvPr>
          <p:cNvSpPr>
            <a:spLocks noChangeAspect="1"/>
          </p:cNvSpPr>
          <p:nvPr userDrawn="1"/>
        </p:nvSpPr>
        <p:spPr>
          <a:xfrm>
            <a:off x="5761135" y="2373190"/>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hasCustomPrompt="1"/>
          </p:nvPr>
        </p:nvSpPr>
        <p:spPr>
          <a:xfrm>
            <a:off x="5770280"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hasCustomPrompt="1"/>
          </p:nvPr>
        </p:nvSpPr>
        <p:spPr>
          <a:xfrm>
            <a:off x="5116484" y="2756535"/>
            <a:ext cx="2011680" cy="2828676"/>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49951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3503 h 2828676"/>
              <a:gd name="connsiteX1" fmla="*/ 649951 w 2011680"/>
              <a:gd name="connsiteY1" fmla="*/ 1905 h 2828676"/>
              <a:gd name="connsiteX2" fmla="*/ 1358611 w 2011680"/>
              <a:gd name="connsiteY2" fmla="*/ 0 h 2828676"/>
              <a:gd name="connsiteX3" fmla="*/ 2011680 w 2011680"/>
              <a:gd name="connsiteY3" fmla="*/ 3503 h 2828676"/>
              <a:gd name="connsiteX4" fmla="*/ 2011680 w 2011680"/>
              <a:gd name="connsiteY4" fmla="*/ 2828676 h 2828676"/>
              <a:gd name="connsiteX5" fmla="*/ 0 w 2011680"/>
              <a:gd name="connsiteY5" fmla="*/ 2828676 h 2828676"/>
              <a:gd name="connsiteX6" fmla="*/ 0 w 2011680"/>
              <a:gd name="connsiteY6" fmla="*/ 3503 h 2828676"/>
              <a:gd name="connsiteX0" fmla="*/ 0 w 2011680"/>
              <a:gd name="connsiteY0" fmla="*/ 3503 h 2828676"/>
              <a:gd name="connsiteX1" fmla="*/ 649951 w 2011680"/>
              <a:gd name="connsiteY1" fmla="*/ 1905 h 2828676"/>
              <a:gd name="connsiteX2" fmla="*/ 1006186 w 2011680"/>
              <a:gd name="connsiteY2" fmla="*/ 0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 name="connsiteX0" fmla="*/ 0 w 2011680"/>
              <a:gd name="connsiteY0" fmla="*/ 3503 h 2828676"/>
              <a:gd name="connsiteX1" fmla="*/ 649951 w 2011680"/>
              <a:gd name="connsiteY1" fmla="*/ 1905 h 2828676"/>
              <a:gd name="connsiteX2" fmla="*/ 1009996 w 2011680"/>
              <a:gd name="connsiteY2" fmla="*/ 333375 h 2828676"/>
              <a:gd name="connsiteX3" fmla="*/ 1358611 w 2011680"/>
              <a:gd name="connsiteY3" fmla="*/ 0 h 2828676"/>
              <a:gd name="connsiteX4" fmla="*/ 2011680 w 2011680"/>
              <a:gd name="connsiteY4" fmla="*/ 3503 h 2828676"/>
              <a:gd name="connsiteX5" fmla="*/ 2011680 w 2011680"/>
              <a:gd name="connsiteY5" fmla="*/ 2828676 h 2828676"/>
              <a:gd name="connsiteX6" fmla="*/ 0 w 2011680"/>
              <a:gd name="connsiteY6" fmla="*/ 2828676 h 2828676"/>
              <a:gd name="connsiteX7" fmla="*/ 0 w 2011680"/>
              <a:gd name="connsiteY7" fmla="*/ 3503 h 282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8676">
                <a:moveTo>
                  <a:pt x="0" y="3503"/>
                </a:moveTo>
                <a:lnTo>
                  <a:pt x="649951" y="1905"/>
                </a:lnTo>
                <a:cubicBezTo>
                  <a:pt x="676621" y="123825"/>
                  <a:pt x="743296" y="316230"/>
                  <a:pt x="1009996" y="333375"/>
                </a:cubicBezTo>
                <a:cubicBezTo>
                  <a:pt x="1261456" y="319405"/>
                  <a:pt x="1349086" y="114935"/>
                  <a:pt x="1358611" y="0"/>
                </a:cubicBezTo>
                <a:lnTo>
                  <a:pt x="2011680" y="3503"/>
                </a:lnTo>
                <a:lnTo>
                  <a:pt x="2011680" y="2828676"/>
                </a:lnTo>
                <a:lnTo>
                  <a:pt x="0" y="2828676"/>
                </a:lnTo>
                <a:lnTo>
                  <a:pt x="0" y="3503"/>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0" name="Rectangle 19">
            <a:extLst>
              <a:ext uri="{FF2B5EF4-FFF2-40B4-BE49-F238E27FC236}">
                <a16:creationId xmlns:a16="http://schemas.microsoft.com/office/drawing/2014/main" id="{5AF82DDD-EDEC-7D87-F43A-113C5E4A4FE7}"/>
              </a:ext>
              <a:ext uri="{C183D7F6-B498-43B3-948B-1728B52AA6E4}">
                <adec:decorative xmlns:adec="http://schemas.microsoft.com/office/drawing/2017/decorative" val="1"/>
              </a:ext>
            </a:extLst>
          </p:cNvPr>
          <p:cNvSpPr/>
          <p:nvPr userDrawn="1"/>
        </p:nvSpPr>
        <p:spPr>
          <a:xfrm>
            <a:off x="5116484"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hasCustomPrompt="1"/>
          </p:nvPr>
        </p:nvSpPr>
        <p:spPr>
          <a:xfrm>
            <a:off x="5162204"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10" name="Oval 9">
            <a:extLst>
              <a:ext uri="{FF2B5EF4-FFF2-40B4-BE49-F238E27FC236}">
                <a16:creationId xmlns:a16="http://schemas.microsoft.com/office/drawing/2014/main" id="{476F2D13-53B7-CE37-EA90-449A726B8A73}"/>
              </a:ext>
              <a:ext uri="{C183D7F6-B498-43B3-948B-1728B52AA6E4}">
                <adec:decorative xmlns:adec="http://schemas.microsoft.com/office/drawing/2017/decorative" val="1"/>
              </a:ext>
            </a:extLst>
          </p:cNvPr>
          <p:cNvSpPr>
            <a:spLocks noChangeAspect="1"/>
          </p:cNvSpPr>
          <p:nvPr userDrawn="1"/>
        </p:nvSpPr>
        <p:spPr>
          <a:xfrm>
            <a:off x="7976707" y="2373190"/>
            <a:ext cx="722376" cy="722376"/>
          </a:xfrm>
          <a:prstGeom prst="ellipse">
            <a:avLst/>
          </a:prstGeom>
          <a:no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hasCustomPrompt="1"/>
          </p:nvPr>
        </p:nvSpPr>
        <p:spPr>
          <a:xfrm>
            <a:off x="7985853" y="2379412"/>
            <a:ext cx="704088" cy="704088"/>
          </a:xfrm>
          <a:prstGeom prst="ellipse">
            <a:avLst/>
          </a:prstGeom>
          <a:solidFill>
            <a:schemeClr val="accent3"/>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hasCustomPrompt="1"/>
          </p:nvPr>
        </p:nvSpPr>
        <p:spPr>
          <a:xfrm>
            <a:off x="7332057"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1598 h 2826771"/>
              <a:gd name="connsiteX1" fmla="*/ 651163 w 2011680"/>
              <a:gd name="connsiteY1" fmla="*/ 0 h 2826771"/>
              <a:gd name="connsiteX2" fmla="*/ 2011680 w 2011680"/>
              <a:gd name="connsiteY2" fmla="*/ 1598 h 2826771"/>
              <a:gd name="connsiteX3" fmla="*/ 2011680 w 2011680"/>
              <a:gd name="connsiteY3" fmla="*/ 2826771 h 2826771"/>
              <a:gd name="connsiteX4" fmla="*/ 0 w 2011680"/>
              <a:gd name="connsiteY4" fmla="*/ 2826771 h 2826771"/>
              <a:gd name="connsiteX5" fmla="*/ 0 w 2011680"/>
              <a:gd name="connsiteY5" fmla="*/ 1598 h 2826771"/>
              <a:gd name="connsiteX0" fmla="*/ 0 w 2011680"/>
              <a:gd name="connsiteY0" fmla="*/ 1598 h 2826771"/>
              <a:gd name="connsiteX1" fmla="*/ 651163 w 2011680"/>
              <a:gd name="connsiteY1" fmla="*/ 0 h 2826771"/>
              <a:gd name="connsiteX2" fmla="*/ 1357283 w 2011680"/>
              <a:gd name="connsiteY2" fmla="*/ 254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1163 w 2011680"/>
              <a:gd name="connsiteY1" fmla="*/ 0 h 2826771"/>
              <a:gd name="connsiteX2" fmla="*/ 1014383 w 2011680"/>
              <a:gd name="connsiteY2" fmla="*/ 330200 h 2826771"/>
              <a:gd name="connsiteX3" fmla="*/ 1357283 w 2011680"/>
              <a:gd name="connsiteY3" fmla="*/ 254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51163" y="0"/>
                </a:lnTo>
                <a:cubicBezTo>
                  <a:pt x="681643" y="210820"/>
                  <a:pt x="861983" y="330200"/>
                  <a:pt x="1014383" y="330200"/>
                </a:cubicBezTo>
                <a:cubicBezTo>
                  <a:pt x="1164243" y="312420"/>
                  <a:pt x="1331883" y="218440"/>
                  <a:pt x="1357283" y="2540"/>
                </a:cubicBezTo>
                <a:lnTo>
                  <a:pt x="2011680" y="1598"/>
                </a:lnTo>
                <a:lnTo>
                  <a:pt x="2011680" y="2826771"/>
                </a:lnTo>
                <a:lnTo>
                  <a:pt x="0" y="2826771"/>
                </a:lnTo>
                <a:lnTo>
                  <a:pt x="0" y="1598"/>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4" name="Rectangle 23">
            <a:extLst>
              <a:ext uri="{FF2B5EF4-FFF2-40B4-BE49-F238E27FC236}">
                <a16:creationId xmlns:a16="http://schemas.microsoft.com/office/drawing/2014/main" id="{DC0053FE-E44A-CA97-F782-67FC633E722E}"/>
              </a:ext>
              <a:ext uri="{C183D7F6-B498-43B3-948B-1728B52AA6E4}">
                <adec:decorative xmlns:adec="http://schemas.microsoft.com/office/drawing/2017/decorative" val="1"/>
              </a:ext>
            </a:extLst>
          </p:cNvPr>
          <p:cNvSpPr/>
          <p:nvPr userDrawn="1"/>
        </p:nvSpPr>
        <p:spPr>
          <a:xfrm>
            <a:off x="7332057" y="4064834"/>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hasCustomPrompt="1"/>
          </p:nvPr>
        </p:nvSpPr>
        <p:spPr>
          <a:xfrm>
            <a:off x="7377777"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
        <p:nvSpPr>
          <p:cNvPr id="11" name="Oval 10">
            <a:extLst>
              <a:ext uri="{FF2B5EF4-FFF2-40B4-BE49-F238E27FC236}">
                <a16:creationId xmlns:a16="http://schemas.microsoft.com/office/drawing/2014/main" id="{0288DB6F-1A86-5713-2420-7554D75CB811}"/>
              </a:ext>
              <a:ext uri="{C183D7F6-B498-43B3-948B-1728B52AA6E4}">
                <adec:decorative xmlns:adec="http://schemas.microsoft.com/office/drawing/2017/decorative" val="1"/>
              </a:ext>
            </a:extLst>
          </p:cNvPr>
          <p:cNvSpPr>
            <a:spLocks noChangeAspect="1"/>
          </p:cNvSpPr>
          <p:nvPr userDrawn="1"/>
        </p:nvSpPr>
        <p:spPr>
          <a:xfrm>
            <a:off x="10190018" y="2373190"/>
            <a:ext cx="722376" cy="722376"/>
          </a:xfrm>
          <a:prstGeom prst="ellipse">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hasCustomPrompt="1"/>
          </p:nvPr>
        </p:nvSpPr>
        <p:spPr>
          <a:xfrm>
            <a:off x="10201425" y="2379412"/>
            <a:ext cx="704088" cy="704088"/>
          </a:xfrm>
          <a:prstGeom prst="ellipse">
            <a:avLst/>
          </a:prstGeom>
          <a:solidFill>
            <a:schemeClr val="accent1"/>
          </a:solidFill>
        </p:spPr>
        <p:txBody>
          <a:bodyPr lIns="0" tIns="0" rIns="0" bIns="0" anchor="t" anchorCtr="0">
            <a:noAutofit/>
          </a:bodyPr>
          <a:lstStyle>
            <a:lvl1pPr marL="0" indent="0" algn="ctr">
              <a:lnSpc>
                <a:spcPct val="80000"/>
              </a:lnSpc>
              <a:spcBef>
                <a:spcPts val="0"/>
              </a:spcBef>
              <a:buNone/>
              <a:defRPr sz="900"/>
            </a:lvl1pPr>
          </a:lstStyle>
          <a:p>
            <a:pPr lvl="0"/>
            <a:r>
              <a:rPr lang="en-US" dirty="0"/>
              <a:t>Picture</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hasCustomPrompt="1"/>
          </p:nvPr>
        </p:nvSpPr>
        <p:spPr>
          <a:xfrm>
            <a:off x="9547629" y="2758440"/>
            <a:ext cx="2011680" cy="2826771"/>
          </a:xfrm>
          <a:custGeom>
            <a:avLst/>
            <a:gdLst>
              <a:gd name="connsiteX0" fmla="*/ 0 w 2011680"/>
              <a:gd name="connsiteY0" fmla="*/ 0 h 2825173"/>
              <a:gd name="connsiteX1" fmla="*/ 2011680 w 2011680"/>
              <a:gd name="connsiteY1" fmla="*/ 0 h 2825173"/>
              <a:gd name="connsiteX2" fmla="*/ 2011680 w 2011680"/>
              <a:gd name="connsiteY2" fmla="*/ 2825173 h 2825173"/>
              <a:gd name="connsiteX3" fmla="*/ 0 w 2011680"/>
              <a:gd name="connsiteY3" fmla="*/ 2825173 h 2825173"/>
              <a:gd name="connsiteX4" fmla="*/ 0 w 2011680"/>
              <a:gd name="connsiteY4" fmla="*/ 0 h 2825173"/>
              <a:gd name="connsiteX0" fmla="*/ 0 w 2011680"/>
              <a:gd name="connsiteY0" fmla="*/ 0 h 2825173"/>
              <a:gd name="connsiteX1" fmla="*/ 655551 w 2011680"/>
              <a:gd name="connsiteY1" fmla="*/ 942 h 2825173"/>
              <a:gd name="connsiteX2" fmla="*/ 2011680 w 2011680"/>
              <a:gd name="connsiteY2" fmla="*/ 0 h 2825173"/>
              <a:gd name="connsiteX3" fmla="*/ 2011680 w 2011680"/>
              <a:gd name="connsiteY3" fmla="*/ 2825173 h 2825173"/>
              <a:gd name="connsiteX4" fmla="*/ 0 w 2011680"/>
              <a:gd name="connsiteY4" fmla="*/ 2825173 h 2825173"/>
              <a:gd name="connsiteX5" fmla="*/ 0 w 2011680"/>
              <a:gd name="connsiteY5" fmla="*/ 0 h 2825173"/>
              <a:gd name="connsiteX0" fmla="*/ 0 w 2011680"/>
              <a:gd name="connsiteY0" fmla="*/ 1598 h 2826771"/>
              <a:gd name="connsiteX1" fmla="*/ 655551 w 2011680"/>
              <a:gd name="connsiteY1" fmla="*/ 2540 h 2826771"/>
              <a:gd name="connsiteX2" fmla="*/ 1364211 w 2011680"/>
              <a:gd name="connsiteY2" fmla="*/ 0 h 2826771"/>
              <a:gd name="connsiteX3" fmla="*/ 2011680 w 2011680"/>
              <a:gd name="connsiteY3" fmla="*/ 1598 h 2826771"/>
              <a:gd name="connsiteX4" fmla="*/ 2011680 w 2011680"/>
              <a:gd name="connsiteY4" fmla="*/ 2826771 h 2826771"/>
              <a:gd name="connsiteX5" fmla="*/ 0 w 2011680"/>
              <a:gd name="connsiteY5" fmla="*/ 2826771 h 2826771"/>
              <a:gd name="connsiteX6" fmla="*/ 0 w 2011680"/>
              <a:gd name="connsiteY6"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 name="connsiteX0" fmla="*/ 0 w 2011680"/>
              <a:gd name="connsiteY0" fmla="*/ 1598 h 2826771"/>
              <a:gd name="connsiteX1" fmla="*/ 655551 w 2011680"/>
              <a:gd name="connsiteY1" fmla="*/ 2540 h 2826771"/>
              <a:gd name="connsiteX2" fmla="*/ 1016231 w 2011680"/>
              <a:gd name="connsiteY2" fmla="*/ 327660 h 2826771"/>
              <a:gd name="connsiteX3" fmla="*/ 1364211 w 2011680"/>
              <a:gd name="connsiteY3" fmla="*/ 0 h 2826771"/>
              <a:gd name="connsiteX4" fmla="*/ 2011680 w 2011680"/>
              <a:gd name="connsiteY4" fmla="*/ 1598 h 2826771"/>
              <a:gd name="connsiteX5" fmla="*/ 2011680 w 2011680"/>
              <a:gd name="connsiteY5" fmla="*/ 2826771 h 2826771"/>
              <a:gd name="connsiteX6" fmla="*/ 0 w 2011680"/>
              <a:gd name="connsiteY6" fmla="*/ 2826771 h 2826771"/>
              <a:gd name="connsiteX7" fmla="*/ 0 w 2011680"/>
              <a:gd name="connsiteY7" fmla="*/ 1598 h 28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1680" h="2826771">
                <a:moveTo>
                  <a:pt x="0" y="1598"/>
                </a:moveTo>
                <a:lnTo>
                  <a:pt x="655551" y="2540"/>
                </a:lnTo>
                <a:cubicBezTo>
                  <a:pt x="686031" y="198120"/>
                  <a:pt x="833351" y="335280"/>
                  <a:pt x="1016231" y="327660"/>
                </a:cubicBezTo>
                <a:cubicBezTo>
                  <a:pt x="1205884" y="340360"/>
                  <a:pt x="1362518" y="137160"/>
                  <a:pt x="1364211" y="0"/>
                </a:cubicBezTo>
                <a:lnTo>
                  <a:pt x="2011680" y="1598"/>
                </a:lnTo>
                <a:lnTo>
                  <a:pt x="2011680" y="2826771"/>
                </a:lnTo>
                <a:lnTo>
                  <a:pt x="0" y="2826771"/>
                </a:lnTo>
                <a:lnTo>
                  <a:pt x="0" y="1598"/>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22" name="Rectangle 21">
            <a:extLst>
              <a:ext uri="{FF2B5EF4-FFF2-40B4-BE49-F238E27FC236}">
                <a16:creationId xmlns:a16="http://schemas.microsoft.com/office/drawing/2014/main" id="{E47E492E-967F-54B7-55B1-08A5E1C3615B}"/>
              </a:ext>
              <a:ext uri="{C183D7F6-B498-43B3-948B-1728B52AA6E4}">
                <adec:decorative xmlns:adec="http://schemas.microsoft.com/office/drawing/2017/decorative" val="1"/>
              </a:ext>
            </a:extLst>
          </p:cNvPr>
          <p:cNvSpPr/>
          <p:nvPr userDrawn="1"/>
        </p:nvSpPr>
        <p:spPr>
          <a:xfrm>
            <a:off x="9547629" y="4064834"/>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hasCustomPrompt="1"/>
          </p:nvPr>
        </p:nvSpPr>
        <p:spPr>
          <a:xfrm>
            <a:off x="9593349" y="4156758"/>
            <a:ext cx="1920240" cy="1371600"/>
          </a:xfrm>
          <a:noFill/>
          <a:ln>
            <a:noFill/>
          </a:ln>
        </p:spPr>
        <p:txBody>
          <a:bodyPr lIns="91440" rIns="91440" anchor="ctr">
            <a:normAutofit/>
          </a:bodyPr>
          <a:lstStyle>
            <a:lvl1pPr marL="0" indent="0" algn="ctr">
              <a:spcBef>
                <a:spcPts val="0"/>
              </a:spcBef>
              <a:buNone/>
              <a:defRPr sz="1500"/>
            </a:lvl1pPr>
          </a:lstStyle>
          <a:p>
            <a:pPr lvl="0"/>
            <a:r>
              <a:rPr lang="en-US" dirty="0"/>
              <a:t>Click to add text</a:t>
            </a:r>
          </a:p>
        </p:txBody>
      </p:sp>
    </p:spTree>
    <p:extLst>
      <p:ext uri="{BB962C8B-B14F-4D97-AF65-F5344CB8AC3E}">
        <p14:creationId xmlns:p14="http://schemas.microsoft.com/office/powerpoint/2010/main" val="453599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 uri="{C183D7F6-B498-43B3-948B-1728B52AA6E4}">
                <adec:decorative xmlns:adec="http://schemas.microsoft.com/office/drawing/2017/decorative" val="1"/>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758952" y="731520"/>
            <a:ext cx="10671048" cy="2126438"/>
          </a:xfrm>
        </p:spPr>
        <p:txBody>
          <a:bodyPr/>
          <a:lstStyle>
            <a:lvl1pPr>
              <a:lnSpc>
                <a:spcPct val="100000"/>
              </a:lnSpc>
              <a:defRPr>
                <a:solidFill>
                  <a:schemeClr val="accent6"/>
                </a:solidFill>
              </a:defRPr>
            </a:lvl1pPr>
          </a:lstStyle>
          <a:p>
            <a:r>
              <a:rPr lang="en-US" dirty="0"/>
              <a:t>Click to add title</a:t>
            </a:r>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0"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cxnSp>
        <p:nvCxnSpPr>
          <p:cNvPr id="42" name="Straight Connector 41">
            <a:extLst>
              <a:ext uri="{FF2B5EF4-FFF2-40B4-BE49-F238E27FC236}">
                <a16:creationId xmlns:a16="http://schemas.microsoft.com/office/drawing/2014/main" id="{E6BE61D7-B0A3-902B-4F58-727982880EF5}"/>
              </a:ext>
              <a:ext uri="{C183D7F6-B498-43B3-948B-1728B52AA6E4}">
                <adec:decorative xmlns:adec="http://schemas.microsoft.com/office/drawing/2017/decorative" val="1"/>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35B4623-C6B7-83B6-05A1-17D69EA8DAB1}"/>
              </a:ext>
              <a:ext uri="{C183D7F6-B498-43B3-948B-1728B52AA6E4}">
                <adec:decorative xmlns:adec="http://schemas.microsoft.com/office/drawing/2017/decorative" val="1"/>
              </a:ext>
            </a:extLst>
          </p:cNvPr>
          <p:cNvSpPr/>
          <p:nvPr userDrawn="1"/>
        </p:nvSpPr>
        <p:spPr>
          <a:xfrm rot="16200000">
            <a:off x="1669440"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7C16B48C-2241-2A09-2A32-FB55BCFD6524}"/>
              </a:ext>
              <a:ext uri="{C183D7F6-B498-43B3-948B-1728B52AA6E4}">
                <adec:decorative xmlns:adec="http://schemas.microsoft.com/office/drawing/2017/decorative" val="1"/>
              </a:ext>
            </a:extLst>
          </p:cNvPr>
          <p:cNvSpPr/>
          <p:nvPr userDrawn="1"/>
        </p:nvSpPr>
        <p:spPr>
          <a:xfrm rot="16200000">
            <a:off x="3881150" y="4056839"/>
            <a:ext cx="81643" cy="261257"/>
          </a:xfrm>
          <a:prstGeom prst="rect">
            <a:avLst/>
          </a:prstGeom>
          <a:solidFill>
            <a:srgbClr val="F5C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3DC7B0C-730B-4FE8-3BFD-D787B1950638}"/>
              </a:ext>
              <a:ext uri="{C183D7F6-B498-43B3-948B-1728B52AA6E4}">
                <adec:decorative xmlns:adec="http://schemas.microsoft.com/office/drawing/2017/decorative" val="1"/>
              </a:ext>
            </a:extLst>
          </p:cNvPr>
          <p:cNvSpPr/>
          <p:nvPr userDrawn="1"/>
        </p:nvSpPr>
        <p:spPr>
          <a:xfrm rot="16200000">
            <a:off x="6045016"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47B2BF2-C193-18BC-3798-C9611C4182C4}"/>
              </a:ext>
              <a:ext uri="{C183D7F6-B498-43B3-948B-1728B52AA6E4}">
                <adec:decorative xmlns:adec="http://schemas.microsoft.com/office/drawing/2017/decorative" val="1"/>
              </a:ext>
            </a:extLst>
          </p:cNvPr>
          <p:cNvSpPr/>
          <p:nvPr userDrawn="1"/>
        </p:nvSpPr>
        <p:spPr>
          <a:xfrm rot="16200000">
            <a:off x="8264631" y="4056839"/>
            <a:ext cx="81643" cy="261257"/>
          </a:xfrm>
          <a:prstGeom prst="rect">
            <a:avLst/>
          </a:prstGeom>
          <a:solidFill>
            <a:srgbClr val="F5C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A8E087E-B71E-C8CE-2C40-B3EACA40D29C}"/>
              </a:ext>
              <a:ext uri="{C183D7F6-B498-43B3-948B-1728B52AA6E4}">
                <adec:decorative xmlns:adec="http://schemas.microsoft.com/office/drawing/2017/decorative" val="1"/>
              </a:ext>
            </a:extLst>
          </p:cNvPr>
          <p:cNvSpPr/>
          <p:nvPr userDrawn="1"/>
        </p:nvSpPr>
        <p:spPr>
          <a:xfrm rot="16200000">
            <a:off x="10475505" y="4056839"/>
            <a:ext cx="81643" cy="2612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hasCustomPrompt="1"/>
          </p:nvPr>
        </p:nvSpPr>
        <p:spPr>
          <a:xfrm>
            <a:off x="685338"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hasCustomPrompt="1"/>
          </p:nvPr>
        </p:nvSpPr>
        <p:spPr>
          <a:xfrm>
            <a:off x="2900911"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hasCustomPrompt="1"/>
          </p:nvPr>
        </p:nvSpPr>
        <p:spPr>
          <a:xfrm>
            <a:off x="5116484"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hasCustomPrompt="1"/>
          </p:nvPr>
        </p:nvSpPr>
        <p:spPr>
          <a:xfrm>
            <a:off x="7332057"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hasCustomPrompt="1"/>
          </p:nvPr>
        </p:nvSpPr>
        <p:spPr>
          <a:xfrm>
            <a:off x="9547629" y="4745736"/>
            <a:ext cx="1993392" cy="795528"/>
          </a:xfrm>
          <a:noFill/>
        </p:spPr>
        <p:txBody>
          <a:bodyPr lIns="0" rIns="0" anchor="t" anchorCtr="0">
            <a:normAutofit/>
          </a:bodyPr>
          <a:lstStyle>
            <a:lvl1pPr marL="0" indent="0" algn="ctr">
              <a:spcBef>
                <a:spcPts val="0"/>
              </a:spcBef>
              <a:buNone/>
              <a:defRPr sz="1500"/>
            </a:lvl1pPr>
          </a:lstStyle>
          <a:p>
            <a:pPr lvl="0"/>
            <a:r>
              <a:rPr lang="en-US" dirty="0"/>
              <a:t>Click to add text</a:t>
            </a:r>
          </a:p>
        </p:txBody>
      </p:sp>
    </p:spTree>
    <p:extLst>
      <p:ext uri="{BB962C8B-B14F-4D97-AF65-F5344CB8AC3E}">
        <p14:creationId xmlns:p14="http://schemas.microsoft.com/office/powerpoint/2010/main" val="852597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hasCustomPrompt="1"/>
          </p:nvPr>
        </p:nvSpPr>
        <p:spPr>
          <a:xfrm>
            <a:off x="758952" y="741458"/>
            <a:ext cx="10671048" cy="1459858"/>
          </a:xfrm>
        </p:spPr>
        <p:txBody>
          <a:bodyPr>
            <a:noAutofit/>
          </a:bodyPr>
          <a:lstStyle>
            <a:lvl1pPr>
              <a:lnSpc>
                <a:spcPct val="100000"/>
              </a:lnSpc>
              <a:defRPr/>
            </a:lvl1pPr>
          </a:lstStyle>
          <a:p>
            <a:r>
              <a:rPr lang="en-US" dirty="0"/>
              <a:t>Click to add title</a:t>
            </a:r>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lvl1pPr>
              <a:defRPr>
                <a:latin typeface="+mn-lt"/>
              </a:defRPr>
            </a:lvl1pPr>
          </a:lstStyle>
          <a:p>
            <a:r>
              <a:rPr lang="en-US" dirty="0"/>
              <a:t>Presentation title</a:t>
            </a:r>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lvl1pPr>
              <a:defRPr>
                <a:latin typeface="+mn-lt"/>
              </a:defRPr>
            </a:lvl1pPr>
          </a:lstStyle>
          <a:p>
            <a:fld id="{48F63A3B-78C7-47BE-AE5E-E10140E04643}" type="slidenum">
              <a:rPr lang="en-US" smtClean="0"/>
              <a:pPr/>
              <a:t>‹#›</a:t>
            </a:fld>
            <a:endParaRPr lang="en-US" dirty="0"/>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hasCustomPrompt="1"/>
          </p:nvPr>
        </p:nvSpPr>
        <p:spPr>
          <a:xfrm>
            <a:off x="1911096" y="2407653"/>
            <a:ext cx="932688" cy="932688"/>
          </a:xfrm>
          <a:prstGeom prst="ellipse">
            <a:avLst/>
          </a:prstGeom>
          <a:solidFill>
            <a:schemeClr val="accent3"/>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hasCustomPrompt="1"/>
          </p:nvPr>
        </p:nvSpPr>
        <p:spPr>
          <a:xfrm>
            <a:off x="713232" y="2885439"/>
            <a:ext cx="3328416" cy="356386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6845 h 3563861"/>
              <a:gd name="connsiteX1" fmla="*/ 1191768 w 3328416"/>
              <a:gd name="connsiteY1" fmla="*/ 0 h 3563861"/>
              <a:gd name="connsiteX2" fmla="*/ 3328416 w 3328416"/>
              <a:gd name="connsiteY2" fmla="*/ 6845 h 3563861"/>
              <a:gd name="connsiteX3" fmla="*/ 3328416 w 3328416"/>
              <a:gd name="connsiteY3" fmla="*/ 3563861 h 3563861"/>
              <a:gd name="connsiteX4" fmla="*/ 0 w 3328416"/>
              <a:gd name="connsiteY4" fmla="*/ 3563861 h 3563861"/>
              <a:gd name="connsiteX5" fmla="*/ 0 w 3328416"/>
              <a:gd name="connsiteY5"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2126488 w 3328416"/>
              <a:gd name="connsiteY2" fmla="*/ 1 h 3563861"/>
              <a:gd name="connsiteX3" fmla="*/ 3328416 w 3328416"/>
              <a:gd name="connsiteY3" fmla="*/ 6845 h 3563861"/>
              <a:gd name="connsiteX4" fmla="*/ 3328416 w 3328416"/>
              <a:gd name="connsiteY4" fmla="*/ 3563861 h 3563861"/>
              <a:gd name="connsiteX5" fmla="*/ 0 w 3328416"/>
              <a:gd name="connsiteY5" fmla="*/ 3563861 h 3563861"/>
              <a:gd name="connsiteX6" fmla="*/ 0 w 3328416"/>
              <a:gd name="connsiteY6"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 name="connsiteX0" fmla="*/ 0 w 3328416"/>
              <a:gd name="connsiteY0" fmla="*/ 6845 h 3563861"/>
              <a:gd name="connsiteX1" fmla="*/ 1191768 w 3328416"/>
              <a:gd name="connsiteY1" fmla="*/ 0 h 3563861"/>
              <a:gd name="connsiteX2" fmla="*/ 1679448 w 3328416"/>
              <a:gd name="connsiteY2" fmla="*/ 452121 h 3563861"/>
              <a:gd name="connsiteX3" fmla="*/ 2126488 w 3328416"/>
              <a:gd name="connsiteY3" fmla="*/ 1 h 3563861"/>
              <a:gd name="connsiteX4" fmla="*/ 3328416 w 3328416"/>
              <a:gd name="connsiteY4" fmla="*/ 6845 h 3563861"/>
              <a:gd name="connsiteX5" fmla="*/ 3328416 w 3328416"/>
              <a:gd name="connsiteY5" fmla="*/ 3563861 h 3563861"/>
              <a:gd name="connsiteX6" fmla="*/ 0 w 3328416"/>
              <a:gd name="connsiteY6" fmla="*/ 3563861 h 3563861"/>
              <a:gd name="connsiteX7" fmla="*/ 0 w 3328416"/>
              <a:gd name="connsiteY7" fmla="*/ 6845 h 3563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63861">
                <a:moveTo>
                  <a:pt x="0" y="6845"/>
                </a:moveTo>
                <a:lnTo>
                  <a:pt x="1191768" y="0"/>
                </a:lnTo>
                <a:cubicBezTo>
                  <a:pt x="1278636" y="383458"/>
                  <a:pt x="1523661" y="452121"/>
                  <a:pt x="1679448" y="452121"/>
                </a:cubicBezTo>
                <a:cubicBezTo>
                  <a:pt x="1835235" y="452121"/>
                  <a:pt x="2146300" y="265349"/>
                  <a:pt x="2126488" y="1"/>
                </a:cubicBezTo>
                <a:lnTo>
                  <a:pt x="3328416" y="6845"/>
                </a:lnTo>
                <a:lnTo>
                  <a:pt x="3328416" y="3563861"/>
                </a:lnTo>
                <a:lnTo>
                  <a:pt x="0" y="3563861"/>
                </a:lnTo>
                <a:lnTo>
                  <a:pt x="0" y="6845"/>
                </a:lnTo>
                <a:close/>
              </a:path>
            </a:pathLst>
          </a:custGeo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hasCustomPrompt="1"/>
          </p:nvPr>
        </p:nvSpPr>
        <p:spPr>
          <a:xfrm>
            <a:off x="992124"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hasCustomPrompt="1"/>
          </p:nvPr>
        </p:nvSpPr>
        <p:spPr>
          <a:xfrm>
            <a:off x="5641848" y="2407653"/>
            <a:ext cx="932688" cy="932688"/>
          </a:xfrm>
          <a:prstGeom prst="ellipse">
            <a:avLst/>
          </a:prstGeom>
          <a:solidFill>
            <a:schemeClr val="accent1"/>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hasCustomPrompt="1"/>
          </p:nvPr>
        </p:nvSpPr>
        <p:spPr>
          <a:xfrm>
            <a:off x="4443984" y="2890519"/>
            <a:ext cx="3328416" cy="355878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1765 h 3558781"/>
              <a:gd name="connsiteX1" fmla="*/ 1189736 w 3328416"/>
              <a:gd name="connsiteY1" fmla="*/ 0 h 3558781"/>
              <a:gd name="connsiteX2" fmla="*/ 3328416 w 3328416"/>
              <a:gd name="connsiteY2" fmla="*/ 1765 h 3558781"/>
              <a:gd name="connsiteX3" fmla="*/ 3328416 w 3328416"/>
              <a:gd name="connsiteY3" fmla="*/ 3558781 h 3558781"/>
              <a:gd name="connsiteX4" fmla="*/ 0 w 3328416"/>
              <a:gd name="connsiteY4" fmla="*/ 3558781 h 3558781"/>
              <a:gd name="connsiteX5" fmla="*/ 0 w 3328416"/>
              <a:gd name="connsiteY5" fmla="*/ 1765 h 3558781"/>
              <a:gd name="connsiteX0" fmla="*/ 0 w 3328416"/>
              <a:gd name="connsiteY0" fmla="*/ 1765 h 3558781"/>
              <a:gd name="connsiteX1" fmla="*/ 1189736 w 3328416"/>
              <a:gd name="connsiteY1" fmla="*/ 0 h 3558781"/>
              <a:gd name="connsiteX2" fmla="*/ 2134616 w 3328416"/>
              <a:gd name="connsiteY2" fmla="*/ 1 h 3558781"/>
              <a:gd name="connsiteX3" fmla="*/ 3328416 w 3328416"/>
              <a:gd name="connsiteY3" fmla="*/ 1765 h 3558781"/>
              <a:gd name="connsiteX4" fmla="*/ 3328416 w 3328416"/>
              <a:gd name="connsiteY4" fmla="*/ 3558781 h 3558781"/>
              <a:gd name="connsiteX5" fmla="*/ 0 w 3328416"/>
              <a:gd name="connsiteY5" fmla="*/ 3558781 h 3558781"/>
              <a:gd name="connsiteX6" fmla="*/ 0 w 3328416"/>
              <a:gd name="connsiteY6" fmla="*/ 1765 h 3558781"/>
              <a:gd name="connsiteX0" fmla="*/ 0 w 3328416"/>
              <a:gd name="connsiteY0" fmla="*/ 1765 h 3558781"/>
              <a:gd name="connsiteX1" fmla="*/ 1189736 w 3328416"/>
              <a:gd name="connsiteY1" fmla="*/ 0 h 3558781"/>
              <a:gd name="connsiteX2" fmla="*/ 1672336 w 3328416"/>
              <a:gd name="connsiteY2" fmla="*/ 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7244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 name="connsiteX0" fmla="*/ 0 w 3328416"/>
              <a:gd name="connsiteY0" fmla="*/ 1765 h 3558781"/>
              <a:gd name="connsiteX1" fmla="*/ 1189736 w 3328416"/>
              <a:gd name="connsiteY1" fmla="*/ 0 h 3558781"/>
              <a:gd name="connsiteX2" fmla="*/ 1672336 w 3328416"/>
              <a:gd name="connsiteY2" fmla="*/ 461011 h 3558781"/>
              <a:gd name="connsiteX3" fmla="*/ 2134616 w 3328416"/>
              <a:gd name="connsiteY3" fmla="*/ 1 h 3558781"/>
              <a:gd name="connsiteX4" fmla="*/ 3328416 w 3328416"/>
              <a:gd name="connsiteY4" fmla="*/ 1765 h 3558781"/>
              <a:gd name="connsiteX5" fmla="*/ 3328416 w 3328416"/>
              <a:gd name="connsiteY5" fmla="*/ 3558781 h 3558781"/>
              <a:gd name="connsiteX6" fmla="*/ 0 w 3328416"/>
              <a:gd name="connsiteY6" fmla="*/ 3558781 h 3558781"/>
              <a:gd name="connsiteX7" fmla="*/ 0 w 3328416"/>
              <a:gd name="connsiteY7" fmla="*/ 1765 h 355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58781">
                <a:moveTo>
                  <a:pt x="0" y="1765"/>
                </a:moveTo>
                <a:lnTo>
                  <a:pt x="1189736" y="0"/>
                </a:lnTo>
                <a:cubicBezTo>
                  <a:pt x="1213443" y="191770"/>
                  <a:pt x="1332399" y="417831"/>
                  <a:pt x="1672336" y="461011"/>
                </a:cubicBezTo>
                <a:cubicBezTo>
                  <a:pt x="2024549" y="425451"/>
                  <a:pt x="2136733" y="127001"/>
                  <a:pt x="2134616" y="1"/>
                </a:cubicBezTo>
                <a:lnTo>
                  <a:pt x="3328416" y="1765"/>
                </a:lnTo>
                <a:lnTo>
                  <a:pt x="3328416" y="3558781"/>
                </a:lnTo>
                <a:lnTo>
                  <a:pt x="0" y="3558781"/>
                </a:lnTo>
                <a:lnTo>
                  <a:pt x="0" y="1765"/>
                </a:lnTo>
                <a:close/>
              </a:path>
            </a:pathLst>
          </a:custGeo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hasCustomPrompt="1"/>
          </p:nvPr>
        </p:nvSpPr>
        <p:spPr>
          <a:xfrm>
            <a:off x="4722876"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hasCustomPrompt="1"/>
          </p:nvPr>
        </p:nvSpPr>
        <p:spPr>
          <a:xfrm>
            <a:off x="9290304" y="2407653"/>
            <a:ext cx="932688" cy="932688"/>
          </a:xfrm>
          <a:prstGeom prst="ellipse">
            <a:avLst/>
          </a:prstGeom>
          <a:solidFill>
            <a:schemeClr val="accent4"/>
          </a:solidFill>
        </p:spPr>
        <p:txBody>
          <a:bodyPr lIns="91440" tIns="0" rIns="91440" bIns="0" anchor="t" anchorCtr="0">
            <a:noAutofit/>
          </a:bodyPr>
          <a:lstStyle>
            <a:lvl1pPr marL="0" indent="0" algn="ctr">
              <a:lnSpc>
                <a:spcPct val="80000"/>
              </a:lnSpc>
              <a:spcBef>
                <a:spcPts val="0"/>
              </a:spcBef>
              <a:buNone/>
              <a:defRPr sz="900"/>
            </a:lvl1pPr>
          </a:lstStyle>
          <a:p>
            <a:pPr lvl="0"/>
            <a:r>
              <a:rPr lang="en-US" dirty="0"/>
              <a:t>Picture</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hasCustomPrompt="1"/>
          </p:nvPr>
        </p:nvSpPr>
        <p:spPr>
          <a:xfrm>
            <a:off x="8092440" y="2891789"/>
            <a:ext cx="3328416" cy="3557511"/>
          </a:xfrm>
          <a:custGeom>
            <a:avLst/>
            <a:gdLst>
              <a:gd name="connsiteX0" fmla="*/ 0 w 3328416"/>
              <a:gd name="connsiteY0" fmla="*/ 0 h 3557016"/>
              <a:gd name="connsiteX1" fmla="*/ 3328416 w 3328416"/>
              <a:gd name="connsiteY1" fmla="*/ 0 h 3557016"/>
              <a:gd name="connsiteX2" fmla="*/ 3328416 w 3328416"/>
              <a:gd name="connsiteY2" fmla="*/ 3557016 h 3557016"/>
              <a:gd name="connsiteX3" fmla="*/ 0 w 3328416"/>
              <a:gd name="connsiteY3" fmla="*/ 3557016 h 3557016"/>
              <a:gd name="connsiteX4" fmla="*/ 0 w 3328416"/>
              <a:gd name="connsiteY4" fmla="*/ 0 h 3557016"/>
              <a:gd name="connsiteX0" fmla="*/ 0 w 3328416"/>
              <a:gd name="connsiteY0" fmla="*/ 495 h 3557511"/>
              <a:gd name="connsiteX1" fmla="*/ 1184910 w 3328416"/>
              <a:gd name="connsiteY1" fmla="*/ 0 h 3557511"/>
              <a:gd name="connsiteX2" fmla="*/ 3328416 w 3328416"/>
              <a:gd name="connsiteY2" fmla="*/ 495 h 3557511"/>
              <a:gd name="connsiteX3" fmla="*/ 3328416 w 3328416"/>
              <a:gd name="connsiteY3" fmla="*/ 3557511 h 3557511"/>
              <a:gd name="connsiteX4" fmla="*/ 0 w 3328416"/>
              <a:gd name="connsiteY4" fmla="*/ 3557511 h 3557511"/>
              <a:gd name="connsiteX5" fmla="*/ 0 w 3328416"/>
              <a:gd name="connsiteY5" fmla="*/ 495 h 3557511"/>
              <a:gd name="connsiteX0" fmla="*/ 0 w 3328416"/>
              <a:gd name="connsiteY0" fmla="*/ 495 h 3557511"/>
              <a:gd name="connsiteX1" fmla="*/ 1184910 w 3328416"/>
              <a:gd name="connsiteY1" fmla="*/ 0 h 3557511"/>
              <a:gd name="connsiteX2" fmla="*/ 2133600 w 3328416"/>
              <a:gd name="connsiteY2" fmla="*/ 1 h 3557511"/>
              <a:gd name="connsiteX3" fmla="*/ 3328416 w 3328416"/>
              <a:gd name="connsiteY3" fmla="*/ 495 h 3557511"/>
              <a:gd name="connsiteX4" fmla="*/ 3328416 w 3328416"/>
              <a:gd name="connsiteY4" fmla="*/ 3557511 h 3557511"/>
              <a:gd name="connsiteX5" fmla="*/ 0 w 3328416"/>
              <a:gd name="connsiteY5" fmla="*/ 3557511 h 3557511"/>
              <a:gd name="connsiteX6" fmla="*/ 0 w 3328416"/>
              <a:gd name="connsiteY6" fmla="*/ 495 h 3557511"/>
              <a:gd name="connsiteX0" fmla="*/ 0 w 3328416"/>
              <a:gd name="connsiteY0" fmla="*/ 495 h 3557511"/>
              <a:gd name="connsiteX1" fmla="*/ 1184910 w 3328416"/>
              <a:gd name="connsiteY1" fmla="*/ 0 h 3557511"/>
              <a:gd name="connsiteX2" fmla="*/ 1642110 w 3328416"/>
              <a:gd name="connsiteY2" fmla="*/ 47625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 name="connsiteX0" fmla="*/ 0 w 3328416"/>
              <a:gd name="connsiteY0" fmla="*/ 495 h 3557511"/>
              <a:gd name="connsiteX1" fmla="*/ 1184910 w 3328416"/>
              <a:gd name="connsiteY1" fmla="*/ 0 h 3557511"/>
              <a:gd name="connsiteX2" fmla="*/ 1672590 w 3328416"/>
              <a:gd name="connsiteY2" fmla="*/ 457201 h 3557511"/>
              <a:gd name="connsiteX3" fmla="*/ 2133600 w 3328416"/>
              <a:gd name="connsiteY3" fmla="*/ 1 h 3557511"/>
              <a:gd name="connsiteX4" fmla="*/ 3328416 w 3328416"/>
              <a:gd name="connsiteY4" fmla="*/ 495 h 3557511"/>
              <a:gd name="connsiteX5" fmla="*/ 3328416 w 3328416"/>
              <a:gd name="connsiteY5" fmla="*/ 3557511 h 3557511"/>
              <a:gd name="connsiteX6" fmla="*/ 0 w 3328416"/>
              <a:gd name="connsiteY6" fmla="*/ 3557511 h 3557511"/>
              <a:gd name="connsiteX7" fmla="*/ 0 w 3328416"/>
              <a:gd name="connsiteY7" fmla="*/ 495 h 355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8416" h="3557511">
                <a:moveTo>
                  <a:pt x="0" y="495"/>
                </a:moveTo>
                <a:lnTo>
                  <a:pt x="1184910" y="0"/>
                </a:lnTo>
                <a:cubicBezTo>
                  <a:pt x="1215390" y="266700"/>
                  <a:pt x="1375410" y="415291"/>
                  <a:pt x="1672590" y="457201"/>
                </a:cubicBezTo>
                <a:cubicBezTo>
                  <a:pt x="2032000" y="411481"/>
                  <a:pt x="2098040" y="179071"/>
                  <a:pt x="2133600" y="1"/>
                </a:cubicBezTo>
                <a:lnTo>
                  <a:pt x="3328416" y="495"/>
                </a:lnTo>
                <a:lnTo>
                  <a:pt x="3328416" y="3557511"/>
                </a:lnTo>
                <a:lnTo>
                  <a:pt x="0" y="3557511"/>
                </a:lnTo>
                <a:lnTo>
                  <a:pt x="0" y="495"/>
                </a:lnTo>
                <a:close/>
              </a:path>
            </a:pathLst>
          </a:custGeo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hasCustomPrompt="1"/>
          </p:nvPr>
        </p:nvSpPr>
        <p:spPr>
          <a:xfrm>
            <a:off x="8371332" y="4099293"/>
            <a:ext cx="2770632" cy="2206752"/>
          </a:xfrm>
          <a:noFill/>
        </p:spPr>
        <p:txBody>
          <a:bodyPr lIns="91440" rIns="91440" anchor="t">
            <a:normAutofit/>
          </a:bodyPr>
          <a:lstStyle>
            <a:lvl1pPr marL="347472" indent="-347472" algn="l">
              <a:spcBef>
                <a:spcPts val="360"/>
              </a:spcBef>
              <a:buFont typeface="Arial" panose="020B0604020202020204" pitchFamily="34" charset="0"/>
              <a:buChar char="•"/>
              <a:defRPr sz="1500"/>
            </a:lvl1pPr>
          </a:lstStyle>
          <a:p>
            <a:pPr lvl="0"/>
            <a:r>
              <a:rPr lang="en-US" dirty="0"/>
              <a:t>Click to add text</a:t>
            </a:r>
          </a:p>
        </p:txBody>
      </p:sp>
      <p:sp>
        <p:nvSpPr>
          <p:cNvPr id="3" name="Oval 2">
            <a:extLst>
              <a:ext uri="{FF2B5EF4-FFF2-40B4-BE49-F238E27FC236}">
                <a16:creationId xmlns:a16="http://schemas.microsoft.com/office/drawing/2014/main" id="{44CA3ED5-BEA8-79A4-A782-B2CDF23DA49B}"/>
              </a:ext>
            </a:extLst>
          </p:cNvPr>
          <p:cNvSpPr>
            <a:spLocks noChangeAspect="1"/>
          </p:cNvSpPr>
          <p:nvPr userDrawn="1"/>
        </p:nvSpPr>
        <p:spPr>
          <a:xfrm>
            <a:off x="1911096" y="2409684"/>
            <a:ext cx="932688" cy="932688"/>
          </a:xfrm>
          <a:prstGeom prst="ellipse">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578A295-1123-7741-FF14-7A34BF88FADA}"/>
              </a:ext>
            </a:extLst>
          </p:cNvPr>
          <p:cNvSpPr>
            <a:spLocks noChangeAspect="1"/>
          </p:cNvSpPr>
          <p:nvPr userDrawn="1"/>
        </p:nvSpPr>
        <p:spPr>
          <a:xfrm>
            <a:off x="5642356" y="2407653"/>
            <a:ext cx="932688" cy="93268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8CFDE8A-AB48-8603-AAE2-E2C68488105C}"/>
              </a:ext>
            </a:extLst>
          </p:cNvPr>
          <p:cNvSpPr>
            <a:spLocks noChangeAspect="1"/>
          </p:cNvSpPr>
          <p:nvPr userDrawn="1"/>
        </p:nvSpPr>
        <p:spPr>
          <a:xfrm>
            <a:off x="9289796" y="2412733"/>
            <a:ext cx="932688" cy="932688"/>
          </a:xfrm>
          <a:prstGeom prst="ellipse">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398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Eigth level</a:t>
            </a:r>
          </a:p>
          <a:p>
            <a:pPr lvl="8"/>
            <a:r>
              <a:rPr lang="en-US" dirty="0"/>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3/19/2026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84190320"/>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open.toronto.ca/dataset/sidewalk-inventory/" TargetMode="External"/><Relationship Id="rId2" Type="http://schemas.openxmlformats.org/officeDocument/2006/relationships/hyperlink" Target="https://open.toronto.ca/dataset/upcoming-and-recently-completed-affordable-housing-units/" TargetMode="External"/><Relationship Id="rId1" Type="http://schemas.openxmlformats.org/officeDocument/2006/relationships/slideLayout" Target="../slideLayouts/slideLayout7.xml"/><Relationship Id="rId4" Type="http://schemas.openxmlformats.org/officeDocument/2006/relationships/hyperlink" Target="https://open.toronto.ca/dataset/ttc-routes-and-schedule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open.toronto.ca/dataset/green-spaces/" TargetMode="External"/><Relationship Id="rId2" Type="http://schemas.openxmlformats.org/officeDocument/2006/relationships/hyperlink" Target="https://pophealthanalytics.com/project/cwbsurvey/"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map.toronto.ca/maps/map.jsp?app=ZBL_CONSULT" TargetMode="External"/><Relationship Id="rId2" Type="http://schemas.openxmlformats.org/officeDocument/2006/relationships/hyperlink" Target="https://open.toronto.ca/dataset/public-engagement-review-survey/" TargetMode="External"/><Relationship Id="rId1" Type="http://schemas.openxmlformats.org/officeDocument/2006/relationships/slideLayout" Target="../slideLayouts/slideLayout7.xml"/><Relationship Id="rId5" Type="http://schemas.openxmlformats.org/officeDocument/2006/relationships/hyperlink" Target="https://pophealthanalytics.com/project/cwbsurvey/" TargetMode="External"/><Relationship Id="rId4" Type="http://schemas.openxmlformats.org/officeDocument/2006/relationships/hyperlink" Target="https://www.tps.ca/services/resource-centre/2022-community-surve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schema.org/House" TargetMode="External"/><Relationship Id="rId2" Type="http://schemas.openxmlformats.org/officeDocument/2006/relationships/hyperlink" Target="https://schema.org/Accommodation" TargetMode="External"/><Relationship Id="rId1" Type="http://schemas.openxmlformats.org/officeDocument/2006/relationships/slideLayout" Target="../slideLayouts/slideLayout2.xml"/><Relationship Id="rId6" Type="http://schemas.openxmlformats.org/officeDocument/2006/relationships/hyperlink" Target="https://open.toronto.ca/dataset/upcoming-and-recently-completed-affordable-housing-units/" TargetMode="External"/><Relationship Id="rId5" Type="http://schemas.openxmlformats.org/officeDocument/2006/relationships/hyperlink" Target="https://open.toronto.ca/dataset/retirement-homes/" TargetMode="External"/><Relationship Id="rId4" Type="http://schemas.openxmlformats.org/officeDocument/2006/relationships/hyperlink" Target="https://schema.org/Apartment"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open.toronto.ca/dataset/sidewalk-inventory/" TargetMode="External"/><Relationship Id="rId2" Type="http://schemas.openxmlformats.org/officeDocument/2006/relationships/hyperlink" Target="https://open.toronto.ca/dataset/ttc-routes-and-schedule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eohub.lio.gov.on.ca/datasets/ministry-of-health-service-provider-locations/explore?location=45.316018%2C-78.981176%2C5.31" TargetMode="External"/><Relationship Id="rId2" Type="http://schemas.openxmlformats.org/officeDocument/2006/relationships/hyperlink" Target="https://schema.org/Hospital" TargetMode="External"/><Relationship Id="rId1" Type="http://schemas.openxmlformats.org/officeDocument/2006/relationships/slideLayout" Target="../slideLayouts/slideLayout2.xml"/><Relationship Id="rId6" Type="http://schemas.openxmlformats.org/officeDocument/2006/relationships/hyperlink" Target="https://open.toronto.ca/dataset/parks-and-recreation-facilities/" TargetMode="External"/><Relationship Id="rId5" Type="http://schemas.openxmlformats.org/officeDocument/2006/relationships/hyperlink" Target="https://ckan0.cf.opendata.inter.prod-toronto.ca/tr/dataset/toronto-district-school-board-locations/resource/eb3e65f1-b80e-478a-a21d-fa7538a433f7" TargetMode="External"/><Relationship Id="rId4" Type="http://schemas.openxmlformats.org/officeDocument/2006/relationships/hyperlink" Target="https://schema.org/School"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open.toronto.ca/dataset/green-space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open.toronto.ca/dataset/public-engagement-review-survey/" TargetMode="External"/><Relationship Id="rId2" Type="http://schemas.openxmlformats.org/officeDocument/2006/relationships/hyperlink" Target="https://open.toronto.ca/dataset/elections-voter-statistic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map.toronto.ca/maps/map.jsp?app=ZBL_CONSUL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pophealthanalytics.com/project/cwbsurvey/" TargetMode="External"/><Relationship Id="rId2" Type="http://schemas.openxmlformats.org/officeDocument/2006/relationships/hyperlink" Target="https://www.tps.ca/services/resource-centre/2022-community-survey/"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p:txBody>
          <a:bodyPr/>
          <a:lstStyle/>
          <a:p>
            <a:r>
              <a:rPr lang="en-US" dirty="0"/>
              <a:t>Complete</a:t>
            </a:r>
            <a:br>
              <a:rPr lang="en-US" dirty="0"/>
            </a:br>
            <a:r>
              <a:rPr lang="en-US" dirty="0"/>
              <a:t>Communities</a:t>
            </a:r>
          </a:p>
        </p:txBody>
      </p:sp>
      <p:sp>
        <p:nvSpPr>
          <p:cNvPr id="3" name="Subtitle 2">
            <a:extLst>
              <a:ext uri="{FF2B5EF4-FFF2-40B4-BE49-F238E27FC236}">
                <a16:creationId xmlns:a16="http://schemas.microsoft.com/office/drawing/2014/main" id="{86C1060B-300F-3CE3-E5AA-D8E29791C960}"/>
              </a:ext>
            </a:extLst>
          </p:cNvPr>
          <p:cNvSpPr>
            <a:spLocks noGrp="1"/>
          </p:cNvSpPr>
          <p:nvPr>
            <p:ph type="subTitle" idx="1"/>
          </p:nvPr>
        </p:nvSpPr>
        <p:spPr/>
        <p:txBody>
          <a:bodyPr/>
          <a:lstStyle/>
          <a:p>
            <a:r>
              <a:rPr lang="en-US" dirty="0"/>
              <a:t>Anderson Wong</a:t>
            </a:r>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p:txBody>
          <a:bodyPr/>
          <a:lstStyle/>
          <a:p>
            <a:pPr marL="344170" indent="-344170"/>
            <a:r>
              <a:rPr lang="en-US" dirty="0"/>
              <a:t>Complete Communities are "</a:t>
            </a:r>
            <a:r>
              <a:rPr lang="en-US" dirty="0">
                <a:ea typeface="+mn-lt"/>
                <a:cs typeface="+mn-lt"/>
              </a:rPr>
              <a:t>communities that are well designed to meet people’s needs for daily living throughout an entire lifetime by providing convenient access to an appropriate mix of jobs, local services, public service facilities, and a full range of housing to accommodate a range of incomes and household sizes" (A Place to Grow: Growth plan for the Greater Golden Horseshoe, 2020)</a:t>
            </a:r>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979622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2E43932-4EB5-D442-0B5D-B3C549249AE3}"/>
              </a:ext>
            </a:extLst>
          </p:cNvPr>
          <p:cNvGraphicFramePr>
            <a:graphicFrameLocks noGrp="1"/>
          </p:cNvGraphicFramePr>
          <p:nvPr>
            <p:extLst>
              <p:ext uri="{D42A27DB-BD31-4B8C-83A1-F6EECF244321}">
                <p14:modId xmlns:p14="http://schemas.microsoft.com/office/powerpoint/2010/main" val="2831960661"/>
              </p:ext>
            </p:extLst>
          </p:nvPr>
        </p:nvGraphicFramePr>
        <p:xfrm>
          <a:off x="1097280" y="355600"/>
          <a:ext cx="10024500" cy="5547360"/>
        </p:xfrm>
        <a:graphic>
          <a:graphicData uri="http://schemas.openxmlformats.org/drawingml/2006/table">
            <a:tbl>
              <a:tblPr firstRow="1" bandRow="1">
                <a:tableStyleId>{5DA37D80-6434-44D0-A028-1B22A696006F}</a:tableStyleId>
              </a:tblPr>
              <a:tblGrid>
                <a:gridCol w="3187700">
                  <a:extLst>
                    <a:ext uri="{9D8B030D-6E8A-4147-A177-3AD203B41FA5}">
                      <a16:colId xmlns:a16="http://schemas.microsoft.com/office/drawing/2014/main" val="3473563482"/>
                    </a:ext>
                  </a:extLst>
                </a:gridCol>
                <a:gridCol w="3675844">
                  <a:extLst>
                    <a:ext uri="{9D8B030D-6E8A-4147-A177-3AD203B41FA5}">
                      <a16:colId xmlns:a16="http://schemas.microsoft.com/office/drawing/2014/main" val="1841504911"/>
                    </a:ext>
                  </a:extLst>
                </a:gridCol>
                <a:gridCol w="3160956">
                  <a:extLst>
                    <a:ext uri="{9D8B030D-6E8A-4147-A177-3AD203B41FA5}">
                      <a16:colId xmlns:a16="http://schemas.microsoft.com/office/drawing/2014/main" val="3281930654"/>
                    </a:ext>
                  </a:extLst>
                </a:gridCol>
              </a:tblGrid>
              <a:tr h="361950">
                <a:tc>
                  <a:txBody>
                    <a:bodyPr/>
                    <a:lstStyle/>
                    <a:p>
                      <a:pPr fontAlgn="base"/>
                      <a:r>
                        <a:rPr lang="en-US" sz="1800" b="1" dirty="0">
                          <a:solidFill>
                            <a:srgbClr val="FDFBF6"/>
                          </a:solidFill>
                          <a:effectLst/>
                          <a:latin typeface="Arial"/>
                        </a:rPr>
                        <a:t>Competency Questions</a:t>
                      </a:r>
                      <a:endParaRPr lang="en-US" b="1" dirty="0">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800" b="1" dirty="0">
                          <a:solidFill>
                            <a:srgbClr val="FDFBF6"/>
                          </a:solidFill>
                          <a:effectLst/>
                          <a:latin typeface="Arial"/>
                        </a:rPr>
                        <a:t>Complete Community Element</a:t>
                      </a:r>
                      <a:endParaRPr lang="en-US" sz="1800" b="1" dirty="0">
                        <a:solidFill>
                          <a:srgbClr val="FDFBF6"/>
                        </a:solidFill>
                        <a:effectLst/>
                        <a:latin typeface="Arial" panose="020B0604020202020204" pitchFamily="34" charset="0"/>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800" b="1" dirty="0">
                          <a:solidFill>
                            <a:srgbClr val="FDFBF6"/>
                          </a:solidFill>
                          <a:effectLst/>
                          <a:latin typeface="Arial"/>
                        </a:rPr>
                        <a:t>Data Available?</a:t>
                      </a:r>
                      <a:endParaRPr lang="en-US" sz="1800" b="1" dirty="0">
                        <a:solidFill>
                          <a:srgbClr val="FDFBF6"/>
                        </a:solidFill>
                        <a:effectLst/>
                        <a:latin typeface="Arial" panose="020B0604020202020204" pitchFamily="34" charset="0"/>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3669818104"/>
                  </a:ext>
                </a:extLst>
              </a:tr>
              <a:tr h="361950">
                <a:tc>
                  <a:txBody>
                    <a:bodyPr/>
                    <a:lstStyle/>
                    <a:p>
                      <a:pPr lvl="0">
                        <a:buNone/>
                      </a:pPr>
                      <a:r>
                        <a:rPr lang="en-US" sz="1600" b="0" i="0" u="none" strike="noStrike" noProof="0" dirty="0">
                          <a:solidFill>
                            <a:srgbClr val="FFFFFF"/>
                          </a:solidFill>
                          <a:latin typeface="Arial"/>
                        </a:rPr>
                        <a:t>Are there diverse housing options in a given community?</a:t>
                      </a:r>
                      <a:endParaRPr lang="en-US" sz="160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Diverse Land Use</a:t>
                      </a:r>
                      <a:endParaRPr lang="en-US" sz="160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noProof="0" dirty="0">
                          <a:solidFill>
                            <a:srgbClr val="92D050"/>
                          </a:solidFill>
                          <a:effectLst/>
                          <a:latin typeface="Arial"/>
                        </a:rPr>
                        <a:t>Available</a:t>
                      </a:r>
                      <a:r>
                        <a:rPr lang="en-US" sz="1600" b="0" i="0" u="none" strike="noStrike" noProof="0" dirty="0">
                          <a:solidFill>
                            <a:srgbClr val="FDFBF6"/>
                          </a:solidFill>
                          <a:effectLst/>
                          <a:latin typeface="Arial"/>
                        </a:rPr>
                        <a:t> (Canadian Census Dwelling Types)</a:t>
                      </a:r>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extLst>
                  <a:ext uri="{0D108BD9-81ED-4DB2-BD59-A6C34878D82A}">
                    <a16:rowId xmlns:a16="http://schemas.microsoft.com/office/drawing/2014/main" val="3051036119"/>
                  </a:ext>
                </a:extLst>
              </a:tr>
              <a:tr h="361950">
                <a:tc>
                  <a:txBody>
                    <a:bodyPr/>
                    <a:lstStyle/>
                    <a:p>
                      <a:pPr lvl="0">
                        <a:buNone/>
                      </a:pPr>
                      <a:r>
                        <a:rPr lang="en-US" sz="1600" b="0" i="0" u="none" strike="noStrike" noProof="0" dirty="0">
                          <a:solidFill>
                            <a:srgbClr val="FFFFFF"/>
                          </a:solidFill>
                          <a:latin typeface="Arial"/>
                        </a:rPr>
                        <a:t>Are there affordable housing options in a given community?</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Affordability</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noProof="0" dirty="0">
                          <a:solidFill>
                            <a:srgbClr val="FFC000"/>
                          </a:solidFill>
                          <a:effectLst/>
                          <a:latin typeface="Arial"/>
                        </a:rPr>
                        <a:t>Available </a:t>
                      </a:r>
                      <a:r>
                        <a:rPr lang="en-US" sz="1600" b="0" i="0" u="none" strike="noStrike" noProof="0" dirty="0">
                          <a:solidFill>
                            <a:srgbClr val="FDFBF6"/>
                          </a:solidFill>
                          <a:effectLst/>
                          <a:latin typeface="Arial"/>
                        </a:rPr>
                        <a:t>(</a:t>
                      </a:r>
                      <a:r>
                        <a:rPr lang="en-US" sz="1600" kern="1200" noProof="0" dirty="0">
                          <a:solidFill>
                            <a:srgbClr val="FDFBF6"/>
                          </a:solidFill>
                          <a:effectLst/>
                          <a:latin typeface="Arial"/>
                          <a:ea typeface="+mn-ea"/>
                          <a:cs typeface="+mn-cs"/>
                          <a:hlinkClick r:id="rId2"/>
                        </a:rPr>
                        <a:t>https://open.toronto.ca/dataset/upcoming-and-recently-completed-affordable-housing-units/</a:t>
                      </a:r>
                      <a:r>
                        <a:rPr lang="en-US" sz="1600" kern="1200" noProof="0" dirty="0">
                          <a:solidFill>
                            <a:srgbClr val="FDFBF6"/>
                          </a:solidFill>
                          <a:effectLst/>
                          <a:latin typeface="Arial"/>
                          <a:ea typeface="+mn-ea"/>
                          <a:cs typeface="+mn-cs"/>
                        </a:rPr>
                        <a:t>)</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extLst>
                  <a:ext uri="{0D108BD9-81ED-4DB2-BD59-A6C34878D82A}">
                    <a16:rowId xmlns:a16="http://schemas.microsoft.com/office/drawing/2014/main" val="1050760314"/>
                  </a:ext>
                </a:extLst>
              </a:tr>
              <a:tr h="361950">
                <a:tc>
                  <a:txBody>
                    <a:bodyPr/>
                    <a:lstStyle/>
                    <a:p>
                      <a:pPr lvl="0">
                        <a:buNone/>
                      </a:pPr>
                      <a:r>
                        <a:rPr lang="en-US" sz="1600" b="0" i="0" u="none" strike="noStrike" noProof="0" dirty="0">
                          <a:solidFill>
                            <a:srgbClr val="FFFFFF"/>
                          </a:solidFill>
                          <a:latin typeface="Arial"/>
                        </a:rPr>
                        <a:t>Are residents spending a high proportion (e.g. &gt;30%) of their income on housing?</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Affordability</a:t>
                      </a:r>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kern="1200" noProof="0" dirty="0">
                          <a:solidFill>
                            <a:srgbClr val="92D050"/>
                          </a:solidFill>
                          <a:effectLst/>
                          <a:latin typeface="Arial"/>
                        </a:rPr>
                        <a:t>Available</a:t>
                      </a:r>
                      <a:r>
                        <a:rPr lang="en-US" sz="1600" b="0" i="0" u="none" strike="noStrike" kern="1200" noProof="0" dirty="0">
                          <a:solidFill>
                            <a:srgbClr val="FDFBF6"/>
                          </a:solidFill>
                          <a:effectLst/>
                          <a:latin typeface="Arial"/>
                        </a:rPr>
                        <a:t> (Canadian Census </a:t>
                      </a:r>
                      <a:r>
                        <a:rPr lang="en-US" sz="1600" b="0" i="0" u="none" strike="noStrike" kern="1200" noProof="0" dirty="0">
                          <a:solidFill>
                            <a:srgbClr val="FDFBF6"/>
                          </a:solidFill>
                          <a:effectLst/>
                        </a:rPr>
                        <a:t>Shelter-cost-to-income ratio</a:t>
                      </a:r>
                      <a:r>
                        <a:rPr lang="en-US" sz="1600" b="0" i="0" u="none" strike="noStrike" kern="1200" noProof="0" dirty="0">
                          <a:solidFill>
                            <a:srgbClr val="FDFBF6"/>
                          </a:solidFill>
                          <a:effectLst/>
                          <a:latin typeface="Arial"/>
                        </a:rPr>
                        <a:t>)</a:t>
                      </a:r>
                    </a:p>
                    <a:p>
                      <a:pPr lvl="0" algn="l">
                        <a:lnSpc>
                          <a:spcPct val="100000"/>
                        </a:lnSpc>
                        <a:spcBef>
                          <a:spcPts val="0"/>
                        </a:spcBef>
                        <a:spcAft>
                          <a:spcPts val="0"/>
                        </a:spcAft>
                        <a:buNone/>
                      </a:pPr>
                      <a:endParaRPr lang="en-US" sz="1600" kern="1200" noProof="0" dirty="0">
                        <a:solidFill>
                          <a:srgbClr val="FDFBF6"/>
                        </a:solidFill>
                        <a:effectLst/>
                        <a:latin typeface="Arial"/>
                        <a:ea typeface="+mn-ea"/>
                        <a:cs typeface="+mn-cs"/>
                      </a:endParaRPr>
                    </a:p>
                  </a:txBody>
                  <a:tcPr>
                    <a:lnL w="9524">
                      <a:solidFill>
                        <a:srgbClr val="5EC795"/>
                      </a:solidFill>
                    </a:lnL>
                    <a:lnR w="9524">
                      <a:solidFill>
                        <a:srgbClr val="5EC795"/>
                      </a:solidFill>
                    </a:lnR>
                    <a:lnT w="9524">
                      <a:solidFill>
                        <a:srgbClr val="5EC795"/>
                      </a:solidFill>
                    </a:lnT>
                    <a:lnB w="9524">
                      <a:solidFill>
                        <a:srgbClr val="5EC795"/>
                      </a:solidFill>
                    </a:lnB>
                    <a:noFill/>
                  </a:tcPr>
                </a:tc>
                <a:extLst>
                  <a:ext uri="{0D108BD9-81ED-4DB2-BD59-A6C34878D82A}">
                    <a16:rowId xmlns:a16="http://schemas.microsoft.com/office/drawing/2014/main" val="3072540264"/>
                  </a:ext>
                </a:extLst>
              </a:tr>
              <a:tr h="361950">
                <a:tc>
                  <a:txBody>
                    <a:bodyPr/>
                    <a:lstStyle/>
                    <a:p>
                      <a:pPr lvl="0">
                        <a:buNone/>
                      </a:pPr>
                      <a:r>
                        <a:rPr lang="en-US" sz="1600" b="0" i="0" u="none" strike="noStrike" noProof="0" dirty="0">
                          <a:solidFill>
                            <a:srgbClr val="FFFFFF"/>
                          </a:solidFill>
                          <a:effectLst/>
                          <a:latin typeface="Arial"/>
                        </a:rPr>
                        <a:t>Where are the roads and sidewalks located in a given community?</a:t>
                      </a:r>
                      <a:endParaRPr lang="en-US" sz="160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buNone/>
                      </a:pPr>
                      <a:r>
                        <a:rPr lang="en-US" sz="1600" b="0" i="0" u="none" strike="noStrike" noProof="0" dirty="0">
                          <a:solidFill>
                            <a:srgbClr val="FDFBF6"/>
                          </a:solidFill>
                          <a:effectLst/>
                        </a:rPr>
                        <a:t>Sidewalks, Freight</a:t>
                      </a:r>
                      <a:endParaRPr lang="en-US" sz="160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FFC000"/>
                          </a:solidFill>
                          <a:effectLst/>
                          <a:latin typeface="Arial"/>
                        </a:rPr>
                        <a:t>Available</a:t>
                      </a:r>
                      <a:r>
                        <a:rPr lang="en-US" sz="1600" dirty="0">
                          <a:solidFill>
                            <a:srgbClr val="FDFBF6"/>
                          </a:solidFill>
                          <a:effectLst/>
                          <a:latin typeface="Arial"/>
                        </a:rPr>
                        <a:t> (OpenStreetMap, </a:t>
                      </a:r>
                      <a:r>
                        <a:rPr lang="en-US" sz="1600" b="0" i="0" u="none" strike="noStrike" noProof="0" dirty="0">
                          <a:solidFill>
                            <a:srgbClr val="FDFBF6"/>
                          </a:solidFill>
                          <a:effectLst/>
                          <a:hlinkClick r:id="rId3"/>
                        </a:rPr>
                        <a:t>https://open.toronto.ca/dataset/sidewalk-inventory/</a:t>
                      </a:r>
                      <a:r>
                        <a:rPr lang="en-US" sz="1600" dirty="0">
                          <a:solidFill>
                            <a:srgbClr val="FDFBF6"/>
                          </a:solidFill>
                          <a:effectLst/>
                          <a:latin typeface="Arial"/>
                        </a:rPr>
                        <a:t>)</a:t>
                      </a:r>
                      <a:endParaRPr lang="en-US" sz="1600">
                        <a:solidFill>
                          <a:srgbClr val="FDFBF6"/>
                        </a:solidFill>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694358202"/>
                  </a:ext>
                </a:extLst>
              </a:tr>
              <a:tr h="361950">
                <a:tc>
                  <a:txBody>
                    <a:bodyPr/>
                    <a:lstStyle/>
                    <a:p>
                      <a:pPr lvl="0">
                        <a:buNone/>
                      </a:pPr>
                      <a:r>
                        <a:rPr lang="en-US" sz="1600" b="0" i="0" u="none" strike="noStrike" noProof="0" dirty="0">
                          <a:solidFill>
                            <a:srgbClr val="FFFFFF"/>
                          </a:solidFill>
                          <a:effectLst/>
                          <a:latin typeface="Arial"/>
                        </a:rPr>
                        <a:t>What are the public transit routes and schedules for a given community?</a:t>
                      </a:r>
                      <a:endParaRPr lang="en-US" sz="160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FDFBF6"/>
                          </a:solidFill>
                          <a:effectLst/>
                          <a:latin typeface="Arial"/>
                        </a:rPr>
                        <a:t>Active Transportation</a:t>
                      </a:r>
                      <a:endParaRPr lang="en-US" sz="1600">
                        <a:solidFill>
                          <a:srgbClr val="FDFBF6"/>
                        </a:solidFill>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FFC000"/>
                          </a:solidFill>
                          <a:effectLst/>
                          <a:latin typeface="Arial"/>
                        </a:rPr>
                        <a:t>Available</a:t>
                      </a:r>
                      <a:r>
                        <a:rPr lang="en-US" sz="1600" dirty="0">
                          <a:solidFill>
                            <a:srgbClr val="FDFBF6"/>
                          </a:solidFill>
                          <a:effectLst/>
                          <a:latin typeface="Arial"/>
                        </a:rPr>
                        <a:t> (</a:t>
                      </a:r>
                      <a:r>
                        <a:rPr lang="en-US" sz="1600" b="0" i="0" u="none" strike="noStrike" noProof="0" dirty="0">
                          <a:solidFill>
                            <a:srgbClr val="FDFBF6"/>
                          </a:solidFill>
                          <a:effectLst/>
                          <a:latin typeface="Arial"/>
                          <a:hlinkClick r:id="rId4"/>
                        </a:rPr>
                        <a:t>https://open.toronto.ca/dataset/ttc-routes-and-schedules/</a:t>
                      </a:r>
                      <a:r>
                        <a:rPr lang="en-US" sz="1600" dirty="0">
                          <a:solidFill>
                            <a:srgbClr val="FDFBF6"/>
                          </a:solidFill>
                          <a:effectLst/>
                          <a:latin typeface="Arial"/>
                        </a:rPr>
                        <a:t>)</a:t>
                      </a:r>
                      <a:endParaRPr lang="en-US" sz="1600">
                        <a:solidFill>
                          <a:srgbClr val="FDFBF6"/>
                        </a:solidFill>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113403303"/>
                  </a:ext>
                </a:extLst>
              </a:tr>
              <a:tr h="361950">
                <a:tc>
                  <a:txBody>
                    <a:bodyPr/>
                    <a:lstStyle/>
                    <a:p>
                      <a:pPr lvl="0">
                        <a:buNone/>
                      </a:pPr>
                      <a:r>
                        <a:rPr lang="en-US" sz="1600" b="0" i="0" u="none" strike="noStrike" noProof="0" dirty="0">
                          <a:solidFill>
                            <a:srgbClr val="FFFFFF"/>
                          </a:solidFill>
                          <a:effectLst/>
                          <a:latin typeface="Arial"/>
                        </a:rPr>
                        <a:t>How many residents rely on public transit for commuting?</a:t>
                      </a:r>
                      <a:endParaRPr lang="en-US" sz="160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FDFBF6"/>
                          </a:solidFill>
                          <a:effectLst/>
                          <a:latin typeface="Arial"/>
                        </a:rPr>
                        <a:t>Diverse Land Use</a:t>
                      </a:r>
                      <a:endParaRPr lang="en-US" sz="1600">
                        <a:solidFill>
                          <a:srgbClr val="FDFBF6"/>
                        </a:solidFill>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92D050"/>
                          </a:solidFill>
                          <a:effectLst/>
                          <a:latin typeface="Arial"/>
                        </a:rPr>
                        <a:t>Available</a:t>
                      </a:r>
                      <a:r>
                        <a:rPr lang="en-US" sz="1600" dirty="0">
                          <a:solidFill>
                            <a:srgbClr val="FDFBF6"/>
                          </a:solidFill>
                          <a:effectLst/>
                          <a:latin typeface="Arial"/>
                        </a:rPr>
                        <a:t> (Canadian Census Public Transit Commuters)</a:t>
                      </a: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52699365"/>
                  </a:ext>
                </a:extLst>
              </a:tr>
            </a:tbl>
          </a:graphicData>
        </a:graphic>
      </p:graphicFrame>
    </p:spTree>
    <p:extLst>
      <p:ext uri="{BB962C8B-B14F-4D97-AF65-F5344CB8AC3E}">
        <p14:creationId xmlns:p14="http://schemas.microsoft.com/office/powerpoint/2010/main" val="1076976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9A614-EF34-A768-A0C8-B7E0413BD754}"/>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8D73447-12A9-1FA6-A0B8-2C13B4A4E832}"/>
              </a:ext>
            </a:extLst>
          </p:cNvPr>
          <p:cNvGraphicFramePr>
            <a:graphicFrameLocks noGrp="1"/>
          </p:cNvGraphicFramePr>
          <p:nvPr>
            <p:extLst>
              <p:ext uri="{D42A27DB-BD31-4B8C-83A1-F6EECF244321}">
                <p14:modId xmlns:p14="http://schemas.microsoft.com/office/powerpoint/2010/main" val="534477524"/>
              </p:ext>
            </p:extLst>
          </p:nvPr>
        </p:nvGraphicFramePr>
        <p:xfrm>
          <a:off x="1097280" y="355600"/>
          <a:ext cx="10024500" cy="6126480"/>
        </p:xfrm>
        <a:graphic>
          <a:graphicData uri="http://schemas.openxmlformats.org/drawingml/2006/table">
            <a:tbl>
              <a:tblPr firstRow="1" bandRow="1">
                <a:tableStyleId>{5DA37D80-6434-44D0-A028-1B22A696006F}</a:tableStyleId>
              </a:tblPr>
              <a:tblGrid>
                <a:gridCol w="3187700">
                  <a:extLst>
                    <a:ext uri="{9D8B030D-6E8A-4147-A177-3AD203B41FA5}">
                      <a16:colId xmlns:a16="http://schemas.microsoft.com/office/drawing/2014/main" val="3473563482"/>
                    </a:ext>
                  </a:extLst>
                </a:gridCol>
                <a:gridCol w="3675844">
                  <a:extLst>
                    <a:ext uri="{9D8B030D-6E8A-4147-A177-3AD203B41FA5}">
                      <a16:colId xmlns:a16="http://schemas.microsoft.com/office/drawing/2014/main" val="1841504911"/>
                    </a:ext>
                  </a:extLst>
                </a:gridCol>
                <a:gridCol w="3160956">
                  <a:extLst>
                    <a:ext uri="{9D8B030D-6E8A-4147-A177-3AD203B41FA5}">
                      <a16:colId xmlns:a16="http://schemas.microsoft.com/office/drawing/2014/main" val="3281930654"/>
                    </a:ext>
                  </a:extLst>
                </a:gridCol>
              </a:tblGrid>
              <a:tr h="361950">
                <a:tc>
                  <a:txBody>
                    <a:bodyPr/>
                    <a:lstStyle/>
                    <a:p>
                      <a:pPr fontAlgn="base"/>
                      <a:r>
                        <a:rPr lang="en-US" sz="1800" b="1" dirty="0">
                          <a:solidFill>
                            <a:srgbClr val="FDFBF6"/>
                          </a:solidFill>
                          <a:effectLst/>
                          <a:latin typeface="Arial"/>
                        </a:rPr>
                        <a:t>Competency Questions</a:t>
                      </a:r>
                      <a:endParaRPr lang="en-US" b="1" dirty="0">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800" b="1" dirty="0">
                          <a:solidFill>
                            <a:srgbClr val="FDFBF6"/>
                          </a:solidFill>
                          <a:effectLst/>
                          <a:latin typeface="Arial"/>
                        </a:rPr>
                        <a:t>Complete Community Element</a:t>
                      </a:r>
                      <a:endParaRPr lang="en-US" sz="1800" b="1" dirty="0">
                        <a:solidFill>
                          <a:srgbClr val="FDFBF6"/>
                        </a:solidFill>
                        <a:effectLst/>
                        <a:latin typeface="Arial" panose="020B0604020202020204" pitchFamily="34" charset="0"/>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800" b="1" dirty="0">
                          <a:solidFill>
                            <a:srgbClr val="FDFBF6"/>
                          </a:solidFill>
                          <a:effectLst/>
                          <a:latin typeface="Arial"/>
                        </a:rPr>
                        <a:t>Data Available?</a:t>
                      </a:r>
                      <a:endParaRPr lang="en-US" sz="1800" b="1" dirty="0">
                        <a:solidFill>
                          <a:srgbClr val="FDFBF6"/>
                        </a:solidFill>
                        <a:effectLst/>
                        <a:latin typeface="Arial" panose="020B0604020202020204" pitchFamily="34" charset="0"/>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3669818104"/>
                  </a:ext>
                </a:extLst>
              </a:tr>
              <a:tr h="361950">
                <a:tc>
                  <a:txBody>
                    <a:bodyPr/>
                    <a:lstStyle/>
                    <a:p>
                      <a:pPr lvl="0">
                        <a:buNone/>
                      </a:pPr>
                      <a:r>
                        <a:rPr lang="en-US" sz="1600" b="0" i="0" u="none" strike="noStrike" noProof="0" dirty="0">
                          <a:solidFill>
                            <a:srgbClr val="FFFFFF"/>
                          </a:solidFill>
                          <a:latin typeface="Arial"/>
                        </a:rPr>
                        <a:t>What are the amenities (e.g. stores, restaurants) available in a given community?</a:t>
                      </a:r>
                      <a:endParaRPr lang="en-US" sz="160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Diverse Land Use</a:t>
                      </a:r>
                      <a:endParaRPr lang="en-US" sz="160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noProof="0" dirty="0">
                          <a:solidFill>
                            <a:srgbClr val="92D050"/>
                          </a:solidFill>
                          <a:effectLst/>
                          <a:latin typeface="Arial"/>
                        </a:rPr>
                        <a:t>Available</a:t>
                      </a:r>
                      <a:r>
                        <a:rPr lang="en-US" sz="1600" b="0" i="0" u="none" strike="noStrike" noProof="0" dirty="0">
                          <a:solidFill>
                            <a:srgbClr val="FDFBF6"/>
                          </a:solidFill>
                          <a:effectLst/>
                          <a:latin typeface="Arial"/>
                        </a:rPr>
                        <a:t> (OpenStreetMap)</a:t>
                      </a:r>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extLst>
                  <a:ext uri="{0D108BD9-81ED-4DB2-BD59-A6C34878D82A}">
                    <a16:rowId xmlns:a16="http://schemas.microsoft.com/office/drawing/2014/main" val="3051036119"/>
                  </a:ext>
                </a:extLst>
              </a:tr>
              <a:tr h="361950">
                <a:tc>
                  <a:txBody>
                    <a:bodyPr/>
                    <a:lstStyle/>
                    <a:p>
                      <a:pPr lvl="0">
                        <a:buNone/>
                      </a:pPr>
                      <a:r>
                        <a:rPr lang="en-US" sz="1600" b="0" i="0" u="none" strike="noStrike" noProof="0" dirty="0">
                          <a:solidFill>
                            <a:srgbClr val="FFFFFF"/>
                          </a:solidFill>
                          <a:latin typeface="Arial"/>
                        </a:rPr>
                        <a:t>Do the amenities satisfy the needs of residents?</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Diverse Land Use</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noProof="0" dirty="0">
                          <a:solidFill>
                            <a:srgbClr val="FF0000"/>
                          </a:solidFill>
                          <a:effectLst/>
                          <a:latin typeface="Arial"/>
                        </a:rPr>
                        <a:t>Unavailable</a:t>
                      </a:r>
                      <a:r>
                        <a:rPr lang="en-US" sz="1600" b="0" i="0" u="none" strike="noStrike" noProof="0" dirty="0">
                          <a:solidFill>
                            <a:srgbClr val="FFC000"/>
                          </a:solidFill>
                          <a:effectLst/>
                          <a:latin typeface="Arial"/>
                        </a:rPr>
                        <a:t> </a:t>
                      </a:r>
                      <a:r>
                        <a:rPr lang="en-US" sz="1600" b="0" i="0" u="none" strike="noStrike" noProof="0" dirty="0">
                          <a:solidFill>
                            <a:srgbClr val="FDFBF6"/>
                          </a:solidFill>
                          <a:effectLst/>
                          <a:latin typeface="Arial"/>
                        </a:rPr>
                        <a:t>(available for Ontario as a whole: </a:t>
                      </a:r>
                      <a:r>
                        <a:rPr lang="en-US" sz="1600" b="0" i="0" u="none" strike="noStrike" noProof="0" dirty="0">
                          <a:solidFill>
                            <a:srgbClr val="FDFBF6"/>
                          </a:solidFill>
                          <a:effectLst/>
                          <a:latin typeface="Arial"/>
                          <a:hlinkClick r:id="rId2"/>
                        </a:rPr>
                        <a:t>https://pophealthanalytics.com/project/cwbsurvey/</a:t>
                      </a:r>
                      <a:r>
                        <a:rPr lang="en-US" sz="1600" kern="1200" noProof="0" dirty="0">
                          <a:solidFill>
                            <a:srgbClr val="FDFBF6"/>
                          </a:solidFill>
                          <a:effectLst/>
                          <a:latin typeface="Arial"/>
                          <a:ea typeface="+mn-ea"/>
                          <a:cs typeface="+mn-cs"/>
                        </a:rPr>
                        <a:t>)</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extLst>
                  <a:ext uri="{0D108BD9-81ED-4DB2-BD59-A6C34878D82A}">
                    <a16:rowId xmlns:a16="http://schemas.microsoft.com/office/drawing/2014/main" val="1050760314"/>
                  </a:ext>
                </a:extLst>
              </a:tr>
              <a:tr h="361950">
                <a:tc>
                  <a:txBody>
                    <a:bodyPr/>
                    <a:lstStyle/>
                    <a:p>
                      <a:pPr lvl="0">
                        <a:buNone/>
                      </a:pPr>
                      <a:r>
                        <a:rPr lang="en-US" sz="1600" b="0" i="0" u="none" strike="noStrike" noProof="0" dirty="0">
                          <a:solidFill>
                            <a:srgbClr val="FFFFFF"/>
                          </a:solidFill>
                          <a:latin typeface="Arial"/>
                        </a:rPr>
                        <a:t>Where are the green spaces in a given community located?</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buNone/>
                      </a:pPr>
                      <a:r>
                        <a:rPr lang="en-US" sz="1600" b="0" i="0" u="none" strike="noStrike" noProof="0" dirty="0">
                          <a:solidFill>
                            <a:srgbClr val="FDFBF6"/>
                          </a:solidFill>
                          <a:effectLst/>
                        </a:rPr>
                        <a:t>Neighborhood Parks</a:t>
                      </a:r>
                      <a:endParaRPr lang="en-US" sz="1600" b="0" i="0" u="none" strike="noStrike" noProof="0" dirty="0">
                        <a:solidFill>
                          <a:srgbClr val="FDFBF6"/>
                        </a:solidFill>
                        <a:effectLst/>
                        <a:latin typeface="Arial"/>
                      </a:endParaRPr>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kern="1200" noProof="0" dirty="0">
                          <a:solidFill>
                            <a:srgbClr val="FFC000"/>
                          </a:solidFill>
                          <a:effectLst/>
                          <a:latin typeface="Arial"/>
                        </a:rPr>
                        <a:t>Available</a:t>
                      </a:r>
                      <a:r>
                        <a:rPr lang="en-US" sz="1600" b="0" i="0" u="none" strike="noStrike" kern="1200" noProof="0" dirty="0">
                          <a:solidFill>
                            <a:srgbClr val="FDFBF6"/>
                          </a:solidFill>
                          <a:effectLst/>
                          <a:latin typeface="Arial"/>
                        </a:rPr>
                        <a:t> </a:t>
                      </a:r>
                      <a:r>
                        <a:rPr lang="en-US" sz="1600" b="0" i="0" u="none" strike="noStrike" kern="1200" noProof="0" dirty="0">
                          <a:solidFill>
                            <a:srgbClr val="FFFFFF"/>
                          </a:solidFill>
                          <a:effectLst/>
                          <a:latin typeface="Arial"/>
                        </a:rPr>
                        <a:t>(</a:t>
                      </a:r>
                      <a:r>
                        <a:rPr lang="en-US" sz="1600" b="0" i="0" u="none" strike="noStrike" kern="1200" noProof="0" dirty="0">
                          <a:solidFill>
                            <a:srgbClr val="FDFBF6"/>
                          </a:solidFill>
                          <a:effectLst/>
                          <a:latin typeface="Arial"/>
                          <a:hlinkClick r:id="rId3"/>
                        </a:rPr>
                        <a:t>https://open.toronto.ca/dataset/green-spaces/</a:t>
                      </a:r>
                      <a:r>
                        <a:rPr lang="en-US" sz="1600" b="0" i="0" u="none" strike="noStrike" kern="1200" noProof="0" dirty="0">
                          <a:solidFill>
                            <a:srgbClr val="FFFFFF"/>
                          </a:solidFill>
                          <a:effectLst/>
                          <a:latin typeface="Arial"/>
                        </a:rPr>
                        <a:t>)</a:t>
                      </a:r>
                      <a:endParaRPr lang="en-US" sz="1600" b="0" i="0" u="none" strike="noStrike" kern="1200" noProof="0" dirty="0">
                        <a:solidFill>
                          <a:srgbClr val="FDFBF6"/>
                        </a:solidFill>
                        <a:effectLst/>
                        <a:latin typeface="Arial"/>
                      </a:endParaRPr>
                    </a:p>
                  </a:txBody>
                  <a:tcPr>
                    <a:lnL w="9524">
                      <a:solidFill>
                        <a:srgbClr val="5EC795"/>
                      </a:solidFill>
                    </a:lnL>
                    <a:lnR w="9524">
                      <a:solidFill>
                        <a:srgbClr val="5EC795"/>
                      </a:solidFill>
                    </a:lnR>
                    <a:lnT w="9524">
                      <a:solidFill>
                        <a:srgbClr val="5EC795"/>
                      </a:solidFill>
                    </a:lnT>
                    <a:lnB w="9524">
                      <a:solidFill>
                        <a:srgbClr val="5EC795"/>
                      </a:solidFill>
                    </a:lnB>
                    <a:noFill/>
                  </a:tcPr>
                </a:tc>
                <a:extLst>
                  <a:ext uri="{0D108BD9-81ED-4DB2-BD59-A6C34878D82A}">
                    <a16:rowId xmlns:a16="http://schemas.microsoft.com/office/drawing/2014/main" val="3072540264"/>
                  </a:ext>
                </a:extLst>
              </a:tr>
              <a:tr h="361950">
                <a:tc>
                  <a:txBody>
                    <a:bodyPr/>
                    <a:lstStyle/>
                    <a:p>
                      <a:pPr lvl="0">
                        <a:buNone/>
                      </a:pPr>
                      <a:r>
                        <a:rPr lang="en-US" sz="1600" b="0" i="0" u="none" strike="noStrike" noProof="0" dirty="0">
                          <a:solidFill>
                            <a:srgbClr val="FFFFFF"/>
                          </a:solidFill>
                          <a:effectLst/>
                          <a:latin typeface="Arial"/>
                        </a:rPr>
                        <a:t>Is there enough greenspace for a given community?</a:t>
                      </a:r>
                      <a:endParaRPr lang="en-US" sz="160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buNone/>
                      </a:pPr>
                      <a:r>
                        <a:rPr lang="en-US" sz="1600" b="0" i="0" u="none" strike="noStrike" noProof="0" dirty="0">
                          <a:solidFill>
                            <a:srgbClr val="FDFBF6"/>
                          </a:solidFill>
                          <a:effectLst/>
                          <a:latin typeface="Arial"/>
                        </a:rPr>
                        <a:t>Neighborhood Parks</a:t>
                      </a:r>
                      <a:endParaRPr lang="en-US" sz="160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600" b="0" i="0" u="none" strike="noStrike" noProof="0" dirty="0">
                          <a:solidFill>
                            <a:srgbClr val="FF0000"/>
                          </a:solidFill>
                          <a:effectLst/>
                          <a:latin typeface="Arial"/>
                        </a:rPr>
                        <a:t>Unavailable</a:t>
                      </a:r>
                      <a:r>
                        <a:rPr lang="en-US" sz="1600" b="0" i="0" u="none" strike="noStrike" noProof="0" dirty="0">
                          <a:solidFill>
                            <a:srgbClr val="FFC000"/>
                          </a:solidFill>
                          <a:effectLst/>
                          <a:latin typeface="Arial"/>
                        </a:rPr>
                        <a:t> </a:t>
                      </a:r>
                      <a:r>
                        <a:rPr lang="en-US" sz="1600" b="0" i="0" u="none" strike="noStrike" noProof="0" dirty="0">
                          <a:solidFill>
                            <a:srgbClr val="FDFBF6"/>
                          </a:solidFill>
                          <a:effectLst/>
                          <a:latin typeface="Arial"/>
                        </a:rPr>
                        <a:t>(available for Ontario as a whole: </a:t>
                      </a:r>
                      <a:r>
                        <a:rPr lang="en-US" sz="1600" b="0" i="0" u="none" strike="noStrike" noProof="0" dirty="0">
                          <a:solidFill>
                            <a:srgbClr val="FDFBF6"/>
                          </a:solidFill>
                          <a:effectLst/>
                          <a:latin typeface="Arial"/>
                          <a:hlinkClick r:id="rId2"/>
                        </a:rPr>
                        <a:t>https://pophealthanalytics.com/project/cwbsurvey/</a:t>
                      </a:r>
                      <a:r>
                        <a:rPr lang="en-US" sz="1600" b="0" i="0" u="none" strike="noStrike" noProof="0" dirty="0">
                          <a:solidFill>
                            <a:srgbClr val="FDFBF6"/>
                          </a:solidFill>
                          <a:effectLst/>
                          <a:latin typeface="Arial"/>
                        </a:rPr>
                        <a:t>)</a:t>
                      </a: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694358202"/>
                  </a:ext>
                </a:extLst>
              </a:tr>
              <a:tr h="361950">
                <a:tc>
                  <a:txBody>
                    <a:bodyPr/>
                    <a:lstStyle/>
                    <a:p>
                      <a:pPr lvl="0">
                        <a:buNone/>
                      </a:pPr>
                      <a:r>
                        <a:rPr lang="en-US" sz="1600" b="0" i="0" u="none" strike="noStrike" noProof="0" dirty="0">
                          <a:solidFill>
                            <a:srgbClr val="FFFFFF"/>
                          </a:solidFill>
                          <a:effectLst/>
                          <a:latin typeface="Arial"/>
                        </a:rPr>
                        <a:t>What are the income levels of community residents?</a:t>
                      </a:r>
                      <a:endParaRPr lang="en-US" sz="160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FDFBF6"/>
                          </a:solidFill>
                          <a:effectLst/>
                          <a:latin typeface="Arial"/>
                        </a:rPr>
                        <a:t>Affordability</a:t>
                      </a:r>
                      <a:endParaRPr lang="en-US" sz="1600">
                        <a:solidFill>
                          <a:srgbClr val="FDFBF6"/>
                        </a:solidFill>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buNone/>
                      </a:pPr>
                      <a:r>
                        <a:rPr lang="en-US" sz="1600" b="0" i="0" u="none" strike="noStrike" noProof="0" dirty="0">
                          <a:solidFill>
                            <a:srgbClr val="92D050"/>
                          </a:solidFill>
                          <a:effectLst/>
                          <a:latin typeface="Arial"/>
                        </a:rPr>
                        <a:t>Available</a:t>
                      </a:r>
                      <a:r>
                        <a:rPr lang="en-US" sz="1600" b="0" i="0" u="none" strike="noStrike" noProof="0" dirty="0">
                          <a:solidFill>
                            <a:srgbClr val="FDFBF6"/>
                          </a:solidFill>
                          <a:effectLst/>
                          <a:latin typeface="Arial"/>
                        </a:rPr>
                        <a:t> (Canadian Census Total/After Tax Income)</a:t>
                      </a:r>
                      <a:endParaRPr lang="en-US" sz="1600" dirty="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113403303"/>
                  </a:ext>
                </a:extLst>
              </a:tr>
              <a:tr h="361950">
                <a:tc>
                  <a:txBody>
                    <a:bodyPr/>
                    <a:lstStyle/>
                    <a:p>
                      <a:pPr lvl="0">
                        <a:buNone/>
                      </a:pPr>
                      <a:r>
                        <a:rPr lang="en-US" sz="1600" b="0" i="0" u="none" strike="noStrike" noProof="0" dirty="0">
                          <a:solidFill>
                            <a:srgbClr val="FFFFFF"/>
                          </a:solidFill>
                          <a:effectLst/>
                        </a:rPr>
                        <a:t>What are the education levels of community residents?</a:t>
                      </a:r>
                      <a:endParaRPr lang="en-US" sz="1600" dirty="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FDFBF6"/>
                          </a:solidFill>
                          <a:effectLst/>
                          <a:latin typeface="Arial"/>
                        </a:rPr>
                        <a:t>Diverse Land Use</a:t>
                      </a:r>
                      <a:endParaRPr lang="en-US" sz="1600">
                        <a:solidFill>
                          <a:srgbClr val="FDFBF6"/>
                        </a:solidFill>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92D050"/>
                          </a:solidFill>
                          <a:effectLst/>
                          <a:latin typeface="Arial"/>
                        </a:rPr>
                        <a:t>Available</a:t>
                      </a:r>
                      <a:r>
                        <a:rPr lang="en-US" sz="1600" dirty="0">
                          <a:solidFill>
                            <a:srgbClr val="FDFBF6"/>
                          </a:solidFill>
                          <a:effectLst/>
                          <a:latin typeface="Arial"/>
                        </a:rPr>
                        <a:t> (Canadian Census </a:t>
                      </a:r>
                      <a:r>
                        <a:rPr lang="en-US" sz="1600" b="0" i="0" u="none" strike="noStrike" noProof="0" dirty="0">
                          <a:solidFill>
                            <a:srgbClr val="FDFBF6"/>
                          </a:solidFill>
                          <a:effectLst/>
                        </a:rPr>
                        <a:t>Highest certificate, diploma or degree</a:t>
                      </a:r>
                      <a:r>
                        <a:rPr lang="en-US" sz="1600" b="0" dirty="0">
                          <a:solidFill>
                            <a:srgbClr val="FDFBF6"/>
                          </a:solidFill>
                          <a:effectLst/>
                          <a:latin typeface="Arial"/>
                        </a:rPr>
                        <a:t>)</a:t>
                      </a: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52699365"/>
                  </a:ext>
                </a:extLst>
              </a:tr>
              <a:tr h="361950">
                <a:tc>
                  <a:txBody>
                    <a:bodyPr/>
                    <a:lstStyle/>
                    <a:p>
                      <a:pPr lvl="0">
                        <a:buNone/>
                      </a:pPr>
                      <a:r>
                        <a:rPr lang="en-US" sz="1600" b="0" i="0" u="none" strike="noStrike" noProof="0" dirty="0">
                          <a:solidFill>
                            <a:srgbClr val="FFFFFF"/>
                          </a:solidFill>
                          <a:effectLst/>
                          <a:latin typeface="Arial"/>
                        </a:rPr>
                        <a:t>What are the employment/unemployment rates of a given community?</a:t>
                      </a:r>
                      <a:endParaRPr lang="en-US" dirty="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Diverse Land Use</a:t>
                      </a:r>
                      <a:endParaRPr lang="en-US" dirty="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tc>
                  <a:txBody>
                    <a:bodyPr/>
                    <a:lstStyle/>
                    <a:p>
                      <a:pPr lvl="0">
                        <a:buNone/>
                      </a:pPr>
                      <a:r>
                        <a:rPr lang="en-US" sz="1600" b="0" i="0" u="none" strike="noStrike" noProof="0" dirty="0">
                          <a:solidFill>
                            <a:srgbClr val="92D050"/>
                          </a:solidFill>
                          <a:effectLst/>
                          <a:latin typeface="Arial"/>
                        </a:rPr>
                        <a:t>Available</a:t>
                      </a:r>
                      <a:r>
                        <a:rPr lang="en-US" sz="1600" b="0" i="0" u="none" strike="noStrike" noProof="0" dirty="0">
                          <a:solidFill>
                            <a:srgbClr val="FDFBF6"/>
                          </a:solidFill>
                          <a:effectLst/>
                          <a:latin typeface="Arial"/>
                        </a:rPr>
                        <a:t> (Canadian Census Employment/Unemployment Rate)</a:t>
                      </a:r>
                      <a:endParaRPr lang="en-US" dirty="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extLst>
                  <a:ext uri="{0D108BD9-81ED-4DB2-BD59-A6C34878D82A}">
                    <a16:rowId xmlns:a16="http://schemas.microsoft.com/office/drawing/2014/main" val="3206766789"/>
                  </a:ext>
                </a:extLst>
              </a:tr>
            </a:tbl>
          </a:graphicData>
        </a:graphic>
      </p:graphicFrame>
    </p:spTree>
    <p:extLst>
      <p:ext uri="{BB962C8B-B14F-4D97-AF65-F5344CB8AC3E}">
        <p14:creationId xmlns:p14="http://schemas.microsoft.com/office/powerpoint/2010/main" val="2597431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32E5F-2550-279D-7005-8CA6D1733D8F}"/>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EEB7F00-8327-3B20-DC14-C9106D1B6681}"/>
              </a:ext>
            </a:extLst>
          </p:cNvPr>
          <p:cNvGraphicFramePr>
            <a:graphicFrameLocks noGrp="1"/>
          </p:cNvGraphicFramePr>
          <p:nvPr>
            <p:extLst>
              <p:ext uri="{D42A27DB-BD31-4B8C-83A1-F6EECF244321}">
                <p14:modId xmlns:p14="http://schemas.microsoft.com/office/powerpoint/2010/main" val="4062177219"/>
              </p:ext>
            </p:extLst>
          </p:nvPr>
        </p:nvGraphicFramePr>
        <p:xfrm>
          <a:off x="1097280" y="355600"/>
          <a:ext cx="10024500" cy="6035040"/>
        </p:xfrm>
        <a:graphic>
          <a:graphicData uri="http://schemas.openxmlformats.org/drawingml/2006/table">
            <a:tbl>
              <a:tblPr firstRow="1" bandRow="1">
                <a:tableStyleId>{5DA37D80-6434-44D0-A028-1B22A696006F}</a:tableStyleId>
              </a:tblPr>
              <a:tblGrid>
                <a:gridCol w="3187700">
                  <a:extLst>
                    <a:ext uri="{9D8B030D-6E8A-4147-A177-3AD203B41FA5}">
                      <a16:colId xmlns:a16="http://schemas.microsoft.com/office/drawing/2014/main" val="3473563482"/>
                    </a:ext>
                  </a:extLst>
                </a:gridCol>
                <a:gridCol w="3675844">
                  <a:extLst>
                    <a:ext uri="{9D8B030D-6E8A-4147-A177-3AD203B41FA5}">
                      <a16:colId xmlns:a16="http://schemas.microsoft.com/office/drawing/2014/main" val="1841504911"/>
                    </a:ext>
                  </a:extLst>
                </a:gridCol>
                <a:gridCol w="3160956">
                  <a:extLst>
                    <a:ext uri="{9D8B030D-6E8A-4147-A177-3AD203B41FA5}">
                      <a16:colId xmlns:a16="http://schemas.microsoft.com/office/drawing/2014/main" val="3281930654"/>
                    </a:ext>
                  </a:extLst>
                </a:gridCol>
              </a:tblGrid>
              <a:tr h="361950">
                <a:tc>
                  <a:txBody>
                    <a:bodyPr/>
                    <a:lstStyle/>
                    <a:p>
                      <a:pPr fontAlgn="base"/>
                      <a:r>
                        <a:rPr lang="en-US" sz="1800" b="1" dirty="0">
                          <a:solidFill>
                            <a:srgbClr val="FDFBF6"/>
                          </a:solidFill>
                          <a:effectLst/>
                          <a:latin typeface="Arial"/>
                        </a:rPr>
                        <a:t>Competency Questions</a:t>
                      </a:r>
                      <a:endParaRPr lang="en-US" b="1" dirty="0">
                        <a:effectLst/>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800" b="1" dirty="0">
                          <a:solidFill>
                            <a:srgbClr val="FDFBF6"/>
                          </a:solidFill>
                          <a:effectLst/>
                          <a:latin typeface="Arial"/>
                        </a:rPr>
                        <a:t>Complete Community Element</a:t>
                      </a:r>
                      <a:endParaRPr lang="en-US" sz="1800" b="1" dirty="0">
                        <a:solidFill>
                          <a:srgbClr val="FDFBF6"/>
                        </a:solidFill>
                        <a:effectLst/>
                        <a:latin typeface="Arial" panose="020B0604020202020204" pitchFamily="34" charset="0"/>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800" b="1" dirty="0">
                          <a:solidFill>
                            <a:srgbClr val="FDFBF6"/>
                          </a:solidFill>
                          <a:effectLst/>
                          <a:latin typeface="Arial"/>
                        </a:rPr>
                        <a:t>Data Available?</a:t>
                      </a:r>
                      <a:endParaRPr lang="en-US" sz="1800" b="1" dirty="0">
                        <a:solidFill>
                          <a:srgbClr val="FDFBF6"/>
                        </a:solidFill>
                        <a:effectLst/>
                        <a:latin typeface="Arial" panose="020B0604020202020204" pitchFamily="34" charset="0"/>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3669818104"/>
                  </a:ext>
                </a:extLst>
              </a:tr>
              <a:tr h="361950">
                <a:tc>
                  <a:txBody>
                    <a:bodyPr/>
                    <a:lstStyle/>
                    <a:p>
                      <a:pPr lvl="0">
                        <a:buNone/>
                      </a:pPr>
                      <a:r>
                        <a:rPr lang="en-US" sz="1600" b="0" i="0" u="none" strike="noStrike" noProof="0" dirty="0">
                          <a:solidFill>
                            <a:srgbClr val="FFFFFF"/>
                          </a:solidFill>
                        </a:rPr>
                        <a:t>Are there opportunities for residents to be involved in public engagement?</a:t>
                      </a:r>
                      <a:endParaRPr lang="en-US"/>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Stakeholder Involvement</a:t>
                      </a:r>
                      <a:endParaRPr lang="en-US" sz="1600" dirty="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noProof="0" dirty="0">
                          <a:solidFill>
                            <a:srgbClr val="FF0000"/>
                          </a:solidFill>
                          <a:effectLst/>
                          <a:latin typeface="Arial"/>
                        </a:rPr>
                        <a:t>Unavailable</a:t>
                      </a:r>
                      <a:r>
                        <a:rPr lang="en-US" sz="1600" b="0" i="0" u="none" strike="noStrike" noProof="0" dirty="0">
                          <a:solidFill>
                            <a:srgbClr val="FFC000"/>
                          </a:solidFill>
                          <a:effectLst/>
                          <a:latin typeface="Arial"/>
                        </a:rPr>
                        <a:t> </a:t>
                      </a:r>
                      <a:r>
                        <a:rPr lang="en-US" sz="1600" b="0" i="0" u="none" strike="noStrike" noProof="0" dirty="0">
                          <a:solidFill>
                            <a:srgbClr val="FDFBF6"/>
                          </a:solidFill>
                          <a:effectLst/>
                          <a:latin typeface="Arial"/>
                        </a:rPr>
                        <a:t>(available for Toronto as a whole: </a:t>
                      </a:r>
                      <a:r>
                        <a:rPr lang="en-US" sz="1600" b="0" i="0" u="none" strike="noStrike" noProof="0" dirty="0">
                          <a:solidFill>
                            <a:srgbClr val="FDFBF6"/>
                          </a:solidFill>
                          <a:effectLst/>
                          <a:hlinkClick r:id="rId2"/>
                        </a:rPr>
                        <a:t>https://open.toronto.ca/dataset/public-engagement-review-survey/</a:t>
                      </a:r>
                      <a:r>
                        <a:rPr lang="en-US" sz="1600" b="0" i="0" u="none" strike="noStrike" noProof="0" dirty="0">
                          <a:solidFill>
                            <a:srgbClr val="FDFBF6"/>
                          </a:solidFill>
                          <a:effectLst/>
                          <a:latin typeface="Arial"/>
                        </a:rPr>
                        <a:t>)</a:t>
                      </a:r>
                      <a:endParaRPr lang="en-US" dirty="0"/>
                    </a:p>
                  </a:txBody>
                  <a:tcPr>
                    <a:lnL w="9524">
                      <a:solidFill>
                        <a:srgbClr val="5EC795"/>
                      </a:solidFill>
                    </a:lnL>
                    <a:lnR w="9524">
                      <a:solidFill>
                        <a:srgbClr val="5EC795"/>
                      </a:solidFill>
                    </a:lnR>
                    <a:lnT w="9525" cap="flat" cmpd="sng" algn="ctr">
                      <a:solidFill>
                        <a:srgbClr val="5EC795"/>
                      </a:solidFill>
                      <a:prstDash val="solid"/>
                      <a:round/>
                      <a:headEnd type="none" w="med" len="med"/>
                      <a:tailEnd type="none" w="med" len="med"/>
                    </a:lnT>
                    <a:lnB w="9524">
                      <a:solidFill>
                        <a:srgbClr val="5EC795"/>
                      </a:solidFill>
                    </a:lnB>
                    <a:noFill/>
                  </a:tcPr>
                </a:tc>
                <a:extLst>
                  <a:ext uri="{0D108BD9-81ED-4DB2-BD59-A6C34878D82A}">
                    <a16:rowId xmlns:a16="http://schemas.microsoft.com/office/drawing/2014/main" val="3051036119"/>
                  </a:ext>
                </a:extLst>
              </a:tr>
              <a:tr h="361950">
                <a:tc>
                  <a:txBody>
                    <a:bodyPr/>
                    <a:lstStyle/>
                    <a:p>
                      <a:pPr lvl="0">
                        <a:buNone/>
                      </a:pPr>
                      <a:r>
                        <a:rPr lang="en-US" sz="1600" b="0" i="0" u="none" strike="noStrike" noProof="0" dirty="0">
                          <a:solidFill>
                            <a:srgbClr val="FFFFFF"/>
                          </a:solidFill>
                        </a:rPr>
                        <a:t>What are the land use/zoning laws in a given community?</a:t>
                      </a:r>
                      <a:endParaRPr lang="en-US" dirty="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Diverse Land Use</a:t>
                      </a:r>
                      <a:endParaRPr lang="en-US" sz="160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noProof="0" dirty="0">
                          <a:solidFill>
                            <a:srgbClr val="FFC000"/>
                          </a:solidFill>
                          <a:effectLst/>
                          <a:latin typeface="Arial"/>
                        </a:rPr>
                        <a:t>Available </a:t>
                      </a:r>
                      <a:r>
                        <a:rPr lang="en-US" sz="1600" b="0" i="0" u="none" strike="noStrike" noProof="0" dirty="0">
                          <a:solidFill>
                            <a:srgbClr val="FFFFFF"/>
                          </a:solidFill>
                          <a:effectLst/>
                          <a:latin typeface="Arial"/>
                        </a:rPr>
                        <a:t>(</a:t>
                      </a:r>
                      <a:r>
                        <a:rPr lang="en-US" sz="1600" b="0" i="0" u="none" strike="noStrike" noProof="0" dirty="0">
                          <a:solidFill>
                            <a:srgbClr val="FFFFFF"/>
                          </a:solidFill>
                          <a:effectLst/>
                          <a:hlinkClick r:id="rId3"/>
                        </a:rPr>
                        <a:t>https://map.toronto.ca/maps/map.jsp?app=ZBL_CONSULT</a:t>
                      </a:r>
                      <a:r>
                        <a:rPr lang="en-US" sz="1600" b="0" i="0" u="none" strike="noStrike" noProof="0" dirty="0">
                          <a:solidFill>
                            <a:srgbClr val="FFFFFF"/>
                          </a:solidFill>
                          <a:effectLst/>
                          <a:latin typeface="Arial"/>
                        </a:rPr>
                        <a:t>)</a:t>
                      </a:r>
                      <a:endParaRPr lang="en-US" dirty="0"/>
                    </a:p>
                  </a:txBody>
                  <a:tcPr>
                    <a:lnL w="9524">
                      <a:solidFill>
                        <a:srgbClr val="5EC795"/>
                      </a:solidFill>
                    </a:lnL>
                    <a:lnR w="9524">
                      <a:solidFill>
                        <a:srgbClr val="5EC795"/>
                      </a:solidFill>
                    </a:lnR>
                    <a:lnT w="9524">
                      <a:solidFill>
                        <a:srgbClr val="5EC795"/>
                      </a:solidFill>
                    </a:lnT>
                    <a:lnB w="9524">
                      <a:solidFill>
                        <a:srgbClr val="5EC795"/>
                      </a:solidFill>
                    </a:lnB>
                    <a:noFill/>
                  </a:tcPr>
                </a:tc>
                <a:extLst>
                  <a:ext uri="{0D108BD9-81ED-4DB2-BD59-A6C34878D82A}">
                    <a16:rowId xmlns:a16="http://schemas.microsoft.com/office/drawing/2014/main" val="1050760314"/>
                  </a:ext>
                </a:extLst>
              </a:tr>
              <a:tr h="361950">
                <a:tc>
                  <a:txBody>
                    <a:bodyPr/>
                    <a:lstStyle/>
                    <a:p>
                      <a:pPr lvl="0">
                        <a:buNone/>
                      </a:pPr>
                      <a:r>
                        <a:rPr lang="en-US" sz="1600" b="0" i="0" u="none" strike="noStrike" noProof="0" dirty="0">
                          <a:solidFill>
                            <a:srgbClr val="FFFFFF"/>
                          </a:solidFill>
                        </a:rPr>
                        <a:t>How dense is a given community?</a:t>
                      </a:r>
                      <a:endParaRPr lang="en-US" dirty="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buNone/>
                      </a:pPr>
                      <a:r>
                        <a:rPr lang="en-US" sz="1600" b="0" i="0" u="none" strike="noStrike" noProof="0" dirty="0">
                          <a:solidFill>
                            <a:srgbClr val="FDFBF6"/>
                          </a:solidFill>
                          <a:effectLst/>
                          <a:latin typeface="Arial"/>
                        </a:rPr>
                        <a:t>Diverse Land Use</a:t>
                      </a:r>
                      <a:endParaRPr lang="en-US" dirty="0"/>
                    </a:p>
                  </a:txBody>
                  <a:tcPr>
                    <a:lnL w="9524">
                      <a:solidFill>
                        <a:srgbClr val="5EC795"/>
                      </a:solidFill>
                    </a:lnL>
                    <a:lnR w="9524">
                      <a:solidFill>
                        <a:srgbClr val="5EC795"/>
                      </a:solidFill>
                    </a:lnR>
                    <a:lnT w="9524">
                      <a:solidFill>
                        <a:srgbClr val="5EC795"/>
                      </a:solidFill>
                    </a:lnT>
                    <a:lnB w="9524">
                      <a:solidFill>
                        <a:srgbClr val="5EC795"/>
                      </a:solidFill>
                    </a:lnB>
                    <a:noFill/>
                  </a:tcPr>
                </a:tc>
                <a:tc>
                  <a:txBody>
                    <a:bodyPr/>
                    <a:lstStyle/>
                    <a:p>
                      <a:pPr lvl="0" algn="l">
                        <a:lnSpc>
                          <a:spcPct val="100000"/>
                        </a:lnSpc>
                        <a:spcBef>
                          <a:spcPts val="0"/>
                        </a:spcBef>
                        <a:spcAft>
                          <a:spcPts val="0"/>
                        </a:spcAft>
                        <a:buNone/>
                      </a:pPr>
                      <a:r>
                        <a:rPr lang="en-US" sz="1600" b="0" i="0" u="none" strike="noStrike" kern="1200" noProof="0" dirty="0">
                          <a:solidFill>
                            <a:srgbClr val="92D050"/>
                          </a:solidFill>
                          <a:effectLst/>
                          <a:latin typeface="Arial"/>
                        </a:rPr>
                        <a:t>Available</a:t>
                      </a:r>
                      <a:r>
                        <a:rPr lang="en-US" sz="1600" b="0" i="0" u="none" strike="noStrike" kern="1200" noProof="0" dirty="0">
                          <a:solidFill>
                            <a:srgbClr val="FDFBF6"/>
                          </a:solidFill>
                          <a:effectLst/>
                          <a:latin typeface="Arial"/>
                        </a:rPr>
                        <a:t> (Canadian Census Population Density)</a:t>
                      </a:r>
                      <a:endParaRPr lang="en-US"/>
                    </a:p>
                  </a:txBody>
                  <a:tcPr>
                    <a:lnL w="9524">
                      <a:solidFill>
                        <a:srgbClr val="5EC795"/>
                      </a:solidFill>
                    </a:lnL>
                    <a:lnR w="9524">
                      <a:solidFill>
                        <a:srgbClr val="5EC795"/>
                      </a:solidFill>
                    </a:lnR>
                    <a:lnT w="9524">
                      <a:solidFill>
                        <a:srgbClr val="5EC795"/>
                      </a:solidFill>
                    </a:lnT>
                    <a:lnB w="9524">
                      <a:solidFill>
                        <a:srgbClr val="5EC795"/>
                      </a:solidFill>
                    </a:lnB>
                    <a:noFill/>
                  </a:tcPr>
                </a:tc>
                <a:extLst>
                  <a:ext uri="{0D108BD9-81ED-4DB2-BD59-A6C34878D82A}">
                    <a16:rowId xmlns:a16="http://schemas.microsoft.com/office/drawing/2014/main" val="3072540264"/>
                  </a:ext>
                </a:extLst>
              </a:tr>
              <a:tr h="361950">
                <a:tc>
                  <a:txBody>
                    <a:bodyPr/>
                    <a:lstStyle/>
                    <a:p>
                      <a:pPr lvl="0">
                        <a:buNone/>
                      </a:pPr>
                      <a:r>
                        <a:rPr lang="en-US" sz="1600" b="0" i="0" u="none" strike="noStrike" noProof="0" dirty="0">
                          <a:solidFill>
                            <a:srgbClr val="FFFFFF"/>
                          </a:solidFill>
                          <a:effectLst/>
                        </a:rPr>
                        <a:t>How compact/walkable is a given community?</a:t>
                      </a:r>
                      <a:endParaRPr lang="en-US" dirty="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buNone/>
                      </a:pPr>
                      <a:r>
                        <a:rPr lang="en-US" sz="1600" b="0" i="0" u="none" strike="noStrike" noProof="0" dirty="0">
                          <a:solidFill>
                            <a:srgbClr val="FDFBF6"/>
                          </a:solidFill>
                          <a:effectLst/>
                          <a:latin typeface="Arial"/>
                        </a:rPr>
                        <a:t>Active Transportation</a:t>
                      </a:r>
                      <a:endParaRPr lang="en-US" dirty="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600" b="0" i="0" u="none" strike="noStrike" noProof="0" dirty="0">
                          <a:solidFill>
                            <a:srgbClr val="FFC000"/>
                          </a:solidFill>
                          <a:effectLst/>
                          <a:latin typeface="Arial"/>
                        </a:rPr>
                        <a:t>Available </a:t>
                      </a:r>
                      <a:r>
                        <a:rPr lang="en-US" sz="1600" b="0" i="0" u="none" strike="noStrike" noProof="0" dirty="0">
                          <a:solidFill>
                            <a:srgbClr val="FFFFFF"/>
                          </a:solidFill>
                          <a:effectLst/>
                          <a:latin typeface="Arial"/>
                        </a:rPr>
                        <a:t>(walkscore.com)</a:t>
                      </a: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4"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694358202"/>
                  </a:ext>
                </a:extLst>
              </a:tr>
              <a:tr h="361950">
                <a:tc>
                  <a:txBody>
                    <a:bodyPr/>
                    <a:lstStyle/>
                    <a:p>
                      <a:pPr lvl="0">
                        <a:buNone/>
                      </a:pPr>
                      <a:r>
                        <a:rPr lang="en-US" sz="1600" b="0" i="0" u="none" strike="noStrike" noProof="0" dirty="0">
                          <a:solidFill>
                            <a:srgbClr val="FFFFFF"/>
                          </a:solidFill>
                          <a:effectLst/>
                          <a:latin typeface="Arial"/>
                        </a:rPr>
                        <a:t>Do residents feel comfortable and safe in their communities?</a:t>
                      </a:r>
                      <a:endParaRPr lang="en-US" dirty="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buNone/>
                      </a:pPr>
                      <a:r>
                        <a:rPr lang="en-US" sz="1600" b="0" i="0" u="none" strike="noStrike" noProof="0" dirty="0">
                          <a:solidFill>
                            <a:srgbClr val="FDFBF6"/>
                          </a:solidFill>
                          <a:effectLst/>
                          <a:latin typeface="Arial"/>
                        </a:rPr>
                        <a:t>Diverse Land Use</a:t>
                      </a:r>
                      <a:endParaRPr lang="en-US" dirty="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buNone/>
                      </a:pPr>
                      <a:r>
                        <a:rPr lang="en-US" sz="1600" b="0" i="0" u="none" strike="noStrike" noProof="0" dirty="0">
                          <a:solidFill>
                            <a:srgbClr val="FF0000"/>
                          </a:solidFill>
                          <a:effectLst/>
                          <a:latin typeface="Arial"/>
                        </a:rPr>
                        <a:t>Unavailable</a:t>
                      </a:r>
                      <a:r>
                        <a:rPr lang="en-US" sz="1600" b="0" i="0" u="none" strike="noStrike" noProof="0" dirty="0">
                          <a:solidFill>
                            <a:srgbClr val="FFC000"/>
                          </a:solidFill>
                          <a:effectLst/>
                          <a:latin typeface="Arial"/>
                        </a:rPr>
                        <a:t> </a:t>
                      </a:r>
                      <a:r>
                        <a:rPr lang="en-US" sz="1600" b="0" i="0" u="none" strike="noStrike" noProof="0" dirty="0">
                          <a:solidFill>
                            <a:srgbClr val="FDFBF6"/>
                          </a:solidFill>
                          <a:effectLst/>
                          <a:latin typeface="Arial"/>
                        </a:rPr>
                        <a:t>(available for Toronto as a whole: </a:t>
                      </a:r>
                      <a:r>
                        <a:rPr lang="en-US" sz="1600" b="0" i="0" u="none" strike="noStrike" noProof="0" dirty="0">
                          <a:solidFill>
                            <a:srgbClr val="FDFBF6"/>
                          </a:solidFill>
                          <a:effectLst/>
                          <a:hlinkClick r:id="rId4"/>
                        </a:rPr>
                        <a:t>https://www.tps.ca/services/resource-centre/2022-community-survey/</a:t>
                      </a:r>
                      <a:r>
                        <a:rPr lang="en-US" sz="1600" b="0" i="0" u="none" strike="noStrike" noProof="0" dirty="0">
                          <a:solidFill>
                            <a:srgbClr val="FDFBF6"/>
                          </a:solidFill>
                          <a:effectLst/>
                          <a:latin typeface="Arial"/>
                        </a:rPr>
                        <a:t>)</a:t>
                      </a:r>
                      <a:endParaRPr lang="en-US" dirty="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113403303"/>
                  </a:ext>
                </a:extLst>
              </a:tr>
              <a:tr h="361950">
                <a:tc>
                  <a:txBody>
                    <a:bodyPr/>
                    <a:lstStyle/>
                    <a:p>
                      <a:pPr lvl="0">
                        <a:buNone/>
                      </a:pPr>
                      <a:r>
                        <a:rPr lang="en-US" sz="1600" b="0" i="0" u="none" strike="noStrike" noProof="0" dirty="0">
                          <a:solidFill>
                            <a:srgbClr val="FFFFFF"/>
                          </a:solidFill>
                          <a:effectLst/>
                          <a:latin typeface="Arial"/>
                        </a:rPr>
                        <a:t>Do residents feel satisfied and happy with their communities?</a:t>
                      </a:r>
                      <a:endParaRPr lang="en-US" dirty="0">
                        <a:latin typeface="Arial"/>
                      </a:endParaRP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fontAlgn="auto"/>
                      <a:r>
                        <a:rPr lang="en-US" sz="1600" dirty="0">
                          <a:solidFill>
                            <a:srgbClr val="FDFBF6"/>
                          </a:solidFill>
                          <a:effectLst/>
                          <a:latin typeface="Arial"/>
                        </a:rPr>
                        <a:t>Aesthetics</a:t>
                      </a:r>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tc>
                  <a:txBody>
                    <a:bodyPr/>
                    <a:lstStyle/>
                    <a:p>
                      <a:pPr lvl="0">
                        <a:buNone/>
                      </a:pPr>
                      <a:r>
                        <a:rPr lang="en-US" sz="1600" b="0" i="0" u="none" strike="noStrike" noProof="0" dirty="0">
                          <a:solidFill>
                            <a:srgbClr val="FF0000"/>
                          </a:solidFill>
                          <a:effectLst/>
                          <a:latin typeface="Arial"/>
                        </a:rPr>
                        <a:t>Unavailable</a:t>
                      </a:r>
                      <a:r>
                        <a:rPr lang="en-US" sz="1600" b="0" i="0" u="none" strike="noStrike" noProof="0" dirty="0">
                          <a:solidFill>
                            <a:srgbClr val="FFC000"/>
                          </a:solidFill>
                          <a:effectLst/>
                          <a:latin typeface="Arial"/>
                        </a:rPr>
                        <a:t> </a:t>
                      </a:r>
                      <a:r>
                        <a:rPr lang="en-US" sz="1600" b="0" i="0" u="none" strike="noStrike" noProof="0" dirty="0">
                          <a:solidFill>
                            <a:srgbClr val="FDFBF6"/>
                          </a:solidFill>
                          <a:effectLst/>
                          <a:latin typeface="Arial"/>
                        </a:rPr>
                        <a:t>(available for Ontario as a whole: </a:t>
                      </a:r>
                      <a:r>
                        <a:rPr lang="en-US" sz="1600" b="0" i="0" u="none" strike="noStrike" noProof="0" dirty="0">
                          <a:solidFill>
                            <a:srgbClr val="FDFBF6"/>
                          </a:solidFill>
                          <a:effectLst/>
                          <a:latin typeface="Arial"/>
                          <a:hlinkClick r:id="rId5"/>
                        </a:rPr>
                        <a:t>https://pophealthanalytics.com/project/cwbsurvey/</a:t>
                      </a:r>
                      <a:r>
                        <a:rPr lang="en-US" sz="1600" b="0" i="0" u="none" strike="noStrike" noProof="0" dirty="0">
                          <a:solidFill>
                            <a:srgbClr val="FDFBF6"/>
                          </a:solidFill>
                          <a:effectLst/>
                          <a:latin typeface="Arial"/>
                        </a:rPr>
                        <a:t>)</a:t>
                      </a:r>
                      <a:endParaRPr lang="en-US" dirty="0"/>
                    </a:p>
                  </a:txBody>
                  <a:tcPr>
                    <a:lnL w="9525" cap="flat" cmpd="sng" algn="ctr">
                      <a:solidFill>
                        <a:srgbClr val="5EC795"/>
                      </a:solidFill>
                      <a:prstDash val="solid"/>
                      <a:round/>
                      <a:headEnd type="none" w="med" len="med"/>
                      <a:tailEnd type="none" w="med" len="med"/>
                    </a:lnL>
                    <a:lnR w="9525" cap="flat" cmpd="sng" algn="ctr">
                      <a:solidFill>
                        <a:srgbClr val="5EC795"/>
                      </a:solidFill>
                      <a:prstDash val="solid"/>
                      <a:round/>
                      <a:headEnd type="none" w="med" len="med"/>
                      <a:tailEnd type="none" w="med" len="med"/>
                    </a:lnR>
                    <a:lnT w="9525" cap="flat" cmpd="sng" algn="ctr">
                      <a:solidFill>
                        <a:srgbClr val="5EC795"/>
                      </a:solidFill>
                      <a:prstDash val="solid"/>
                      <a:round/>
                      <a:headEnd type="none" w="med" len="med"/>
                      <a:tailEnd type="none" w="med" len="med"/>
                    </a:lnT>
                    <a:lnB w="9525" cap="flat" cmpd="sng" algn="ctr">
                      <a:solidFill>
                        <a:srgbClr val="5EC795"/>
                      </a:solidFill>
                      <a:prstDash val="solid"/>
                      <a:round/>
                      <a:headEnd type="none" w="med" len="med"/>
                      <a:tailEnd type="none" w="med" len="med"/>
                    </a:lnB>
                    <a:noFill/>
                  </a:tcPr>
                </a:tc>
                <a:extLst>
                  <a:ext uri="{0D108BD9-81ED-4DB2-BD59-A6C34878D82A}">
                    <a16:rowId xmlns:a16="http://schemas.microsoft.com/office/drawing/2014/main" val="52699365"/>
                  </a:ext>
                </a:extLst>
              </a:tr>
            </a:tbl>
          </a:graphicData>
        </a:graphic>
      </p:graphicFrame>
    </p:spTree>
    <p:extLst>
      <p:ext uri="{BB962C8B-B14F-4D97-AF65-F5344CB8AC3E}">
        <p14:creationId xmlns:p14="http://schemas.microsoft.com/office/powerpoint/2010/main" val="2027695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Nine Dimensions</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2773599" y="2052116"/>
            <a:ext cx="3181611" cy="3997828"/>
          </a:xfrm>
        </p:spPr>
        <p:txBody>
          <a:bodyPr/>
          <a:lstStyle/>
          <a:p>
            <a:pPr marL="344170" indent="-344170"/>
            <a:r>
              <a:rPr lang="en-US" dirty="0">
                <a:cs typeface="Arial" panose="020B0604020202020204"/>
              </a:rPr>
              <a:t>Housing</a:t>
            </a:r>
          </a:p>
          <a:p>
            <a:pPr marL="344170" indent="-344170"/>
            <a:r>
              <a:rPr lang="en-US" dirty="0">
                <a:cs typeface="Arial" panose="020B0604020202020204"/>
              </a:rPr>
              <a:t>Transportation</a:t>
            </a:r>
          </a:p>
          <a:p>
            <a:pPr marL="344170" indent="-344170"/>
            <a:r>
              <a:rPr lang="en-US" dirty="0">
                <a:cs typeface="Arial" panose="020B0604020202020204"/>
              </a:rPr>
              <a:t>Amenities</a:t>
            </a:r>
          </a:p>
          <a:p>
            <a:pPr marL="344170" indent="-344170"/>
            <a:r>
              <a:rPr lang="en-US" dirty="0">
                <a:cs typeface="Arial" panose="020B0604020202020204"/>
              </a:rPr>
              <a:t>Green Space</a:t>
            </a:r>
          </a:p>
          <a:p>
            <a:pPr marL="344170" indent="-344170"/>
            <a:r>
              <a:rPr lang="en-US" dirty="0">
                <a:cs typeface="Arial" panose="020B0604020202020204"/>
              </a:rPr>
              <a:t>Economy</a:t>
            </a: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5" name="Content Placeholder 2">
            <a:extLst>
              <a:ext uri="{FF2B5EF4-FFF2-40B4-BE49-F238E27FC236}">
                <a16:creationId xmlns:a16="http://schemas.microsoft.com/office/drawing/2014/main" id="{643789B5-1C4A-07C9-7FA7-DF4F13E72B46}"/>
              </a:ext>
            </a:extLst>
          </p:cNvPr>
          <p:cNvSpPr txBox="1">
            <a:spLocks/>
          </p:cNvSpPr>
          <p:nvPr/>
        </p:nvSpPr>
        <p:spPr>
          <a:xfrm>
            <a:off x="6467689" y="1753755"/>
            <a:ext cx="3181611" cy="3997828"/>
          </a:xfrm>
          <a:prstGeom prst="rect">
            <a:avLst/>
          </a:prstGeom>
        </p:spPr>
        <p:txBody>
          <a:bodyPr vert="horz" lIns="91440" tIns="45720" rIns="91440" bIns="45720" rtlCol="0" anchor="ctr">
            <a:norm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pPr marL="344170" indent="-344170"/>
            <a:r>
              <a:rPr lang="en-US" dirty="0">
                <a:cs typeface="Arial" panose="020B0604020202020204"/>
              </a:rPr>
              <a:t>Engagement</a:t>
            </a:r>
          </a:p>
          <a:p>
            <a:pPr marL="344170" indent="-344170"/>
            <a:r>
              <a:rPr lang="en-US" dirty="0">
                <a:cs typeface="Arial" panose="020B0604020202020204"/>
              </a:rPr>
              <a:t>Diversity</a:t>
            </a:r>
          </a:p>
          <a:p>
            <a:pPr marL="344170" indent="-344170"/>
            <a:r>
              <a:rPr lang="en-US" dirty="0">
                <a:cs typeface="Arial" panose="020B0604020202020204"/>
              </a:rPr>
              <a:t>Density</a:t>
            </a:r>
          </a:p>
          <a:p>
            <a:pPr marL="344170" indent="-344170"/>
            <a:r>
              <a:rPr lang="en-US" dirty="0">
                <a:cs typeface="Arial" panose="020B0604020202020204"/>
              </a:rPr>
              <a:t>Character</a:t>
            </a:r>
          </a:p>
          <a:p>
            <a:pPr marL="344170" indent="-344170"/>
            <a:endParaRPr lang="en-US" dirty="0">
              <a:cs typeface="Arial" panose="020B0604020202020204"/>
            </a:endParaRPr>
          </a:p>
          <a:p>
            <a:pPr marL="344170" indent="-344170"/>
            <a:endParaRPr lang="en-US" dirty="0">
              <a:cs typeface="Arial" panose="020B0604020202020204"/>
            </a:endParaRPr>
          </a:p>
        </p:txBody>
      </p:sp>
    </p:spTree>
    <p:extLst>
      <p:ext uri="{BB962C8B-B14F-4D97-AF65-F5344CB8AC3E}">
        <p14:creationId xmlns:p14="http://schemas.microsoft.com/office/powerpoint/2010/main" val="3390023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D783D-7498-B960-5891-C56F1585F84F}"/>
              </a:ext>
            </a:extLst>
          </p:cNvPr>
          <p:cNvSpPr>
            <a:spLocks noGrp="1"/>
          </p:cNvSpPr>
          <p:nvPr>
            <p:ph type="title"/>
          </p:nvPr>
        </p:nvSpPr>
        <p:spPr/>
        <p:txBody>
          <a:bodyPr/>
          <a:lstStyle/>
          <a:p>
            <a:r>
              <a:rPr lang="en-US" dirty="0">
                <a:cs typeface="Arial"/>
              </a:rPr>
              <a:t>Competency Questions</a:t>
            </a:r>
            <a:endParaRPr lang="en-US" dirty="0"/>
          </a:p>
        </p:txBody>
      </p:sp>
      <p:sp>
        <p:nvSpPr>
          <p:cNvPr id="3" name="Content Placeholder 2">
            <a:extLst>
              <a:ext uri="{FF2B5EF4-FFF2-40B4-BE49-F238E27FC236}">
                <a16:creationId xmlns:a16="http://schemas.microsoft.com/office/drawing/2014/main" id="{D523A22F-D47F-BC87-10ED-26457C713822}"/>
              </a:ext>
            </a:extLst>
          </p:cNvPr>
          <p:cNvSpPr>
            <a:spLocks noGrp="1"/>
          </p:cNvSpPr>
          <p:nvPr>
            <p:ph idx="1"/>
          </p:nvPr>
        </p:nvSpPr>
        <p:spPr/>
        <p:txBody>
          <a:bodyPr>
            <a:normAutofit fontScale="92500"/>
          </a:bodyPr>
          <a:lstStyle/>
          <a:p>
            <a:pPr marL="344170" indent="-344170"/>
            <a:r>
              <a:rPr lang="en-US" dirty="0">
                <a:cs typeface="Arial"/>
              </a:rPr>
              <a:t>Housing</a:t>
            </a:r>
          </a:p>
          <a:p>
            <a:pPr marL="795020" lvl="1" indent="-337820">
              <a:buFont typeface="Courier New" panose="05000000000000000000" pitchFamily="2" charset="2"/>
              <a:buChar char="o"/>
            </a:pPr>
            <a:r>
              <a:rPr lang="en-US" dirty="0">
                <a:cs typeface="Arial"/>
              </a:rPr>
              <a:t>Are there diverse housing options in a given community?</a:t>
            </a:r>
          </a:p>
          <a:p>
            <a:pPr marL="795020" lvl="1" indent="-337820">
              <a:buFont typeface="Courier New" panose="05000000000000000000" pitchFamily="2" charset="2"/>
              <a:buChar char="o"/>
            </a:pPr>
            <a:r>
              <a:rPr lang="en-US" dirty="0">
                <a:cs typeface="Arial"/>
              </a:rPr>
              <a:t>Are there affordable housing options in a given community?</a:t>
            </a:r>
            <a:endParaRPr lang="en-US">
              <a:cs typeface="Arial"/>
            </a:endParaRPr>
          </a:p>
          <a:p>
            <a:pPr marL="795020" lvl="1" indent="-337820">
              <a:buFont typeface="Courier New" panose="05000000000000000000" pitchFamily="2" charset="2"/>
              <a:buChar char="o"/>
            </a:pPr>
            <a:r>
              <a:rPr lang="en-US" dirty="0">
                <a:cs typeface="Arial"/>
              </a:rPr>
              <a:t>Are residents spending a high proportion (e.g. &gt;30%) of their income on housing?</a:t>
            </a:r>
          </a:p>
          <a:p>
            <a:pPr marL="344170" indent="-344170"/>
            <a:r>
              <a:rPr lang="en-US" sz="1900" dirty="0">
                <a:cs typeface="Arial"/>
              </a:rPr>
              <a:t>Transportation</a:t>
            </a:r>
          </a:p>
          <a:p>
            <a:pPr marL="795020" lvl="1" indent="-337820">
              <a:buFont typeface="Courier New,monospace" panose="05000000000000000000" pitchFamily="2" charset="2"/>
              <a:buChar char="o"/>
            </a:pPr>
            <a:r>
              <a:rPr lang="en-US" sz="1700" dirty="0">
                <a:cs typeface="Arial"/>
              </a:rPr>
              <a:t>Where are the roads and sidewalks located in a given community?</a:t>
            </a:r>
          </a:p>
          <a:p>
            <a:pPr marL="795020" lvl="1" indent="-337820">
              <a:buFont typeface="Courier New,monospace" panose="05000000000000000000" pitchFamily="2" charset="2"/>
              <a:buChar char="o"/>
            </a:pPr>
            <a:r>
              <a:rPr lang="en-US" sz="1700" dirty="0">
                <a:cs typeface="Arial"/>
              </a:rPr>
              <a:t>What are the public transit routes and schedules for a given community?</a:t>
            </a:r>
          </a:p>
          <a:p>
            <a:pPr marL="795020" lvl="1" indent="-337820">
              <a:buFont typeface="Courier New,monospace" panose="05000000000000000000" pitchFamily="2" charset="2"/>
              <a:buChar char="o"/>
            </a:pPr>
            <a:r>
              <a:rPr lang="en-US" sz="1700" dirty="0">
                <a:cs typeface="Arial"/>
              </a:rPr>
              <a:t>How many residents rely on public transit for commuting?</a:t>
            </a:r>
            <a:endParaRPr lang="en-US" dirty="0"/>
          </a:p>
        </p:txBody>
      </p:sp>
    </p:spTree>
    <p:extLst>
      <p:ext uri="{BB962C8B-B14F-4D97-AF65-F5344CB8AC3E}">
        <p14:creationId xmlns:p14="http://schemas.microsoft.com/office/powerpoint/2010/main" val="913557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D783D-7498-B960-5891-C56F1585F84F}"/>
              </a:ext>
            </a:extLst>
          </p:cNvPr>
          <p:cNvSpPr>
            <a:spLocks noGrp="1"/>
          </p:cNvSpPr>
          <p:nvPr>
            <p:ph type="title"/>
          </p:nvPr>
        </p:nvSpPr>
        <p:spPr/>
        <p:txBody>
          <a:bodyPr/>
          <a:lstStyle/>
          <a:p>
            <a:r>
              <a:rPr lang="en-US" dirty="0">
                <a:cs typeface="Arial"/>
              </a:rPr>
              <a:t>Competency Questions</a:t>
            </a:r>
            <a:endParaRPr lang="en-US" dirty="0"/>
          </a:p>
        </p:txBody>
      </p:sp>
      <p:sp>
        <p:nvSpPr>
          <p:cNvPr id="3" name="Content Placeholder 2">
            <a:extLst>
              <a:ext uri="{FF2B5EF4-FFF2-40B4-BE49-F238E27FC236}">
                <a16:creationId xmlns:a16="http://schemas.microsoft.com/office/drawing/2014/main" id="{D523A22F-D47F-BC87-10ED-26457C713822}"/>
              </a:ext>
            </a:extLst>
          </p:cNvPr>
          <p:cNvSpPr>
            <a:spLocks noGrp="1"/>
          </p:cNvSpPr>
          <p:nvPr>
            <p:ph idx="1"/>
          </p:nvPr>
        </p:nvSpPr>
        <p:spPr/>
        <p:txBody>
          <a:bodyPr>
            <a:normAutofit fontScale="92500"/>
          </a:bodyPr>
          <a:lstStyle/>
          <a:p>
            <a:pPr marL="344170" indent="-344170"/>
            <a:r>
              <a:rPr lang="en-US" dirty="0">
                <a:ea typeface="+mn-lt"/>
                <a:cs typeface="+mn-lt"/>
              </a:rPr>
              <a:t>Amenities</a:t>
            </a:r>
          </a:p>
          <a:p>
            <a:pPr marL="795020" lvl="1" indent="-337820">
              <a:buFont typeface="Courier New,monospace" panose="05000000000000000000" pitchFamily="2" charset="2"/>
              <a:buChar char="o"/>
            </a:pPr>
            <a:r>
              <a:rPr lang="en-US" dirty="0">
                <a:ea typeface="+mn-lt"/>
                <a:cs typeface="+mn-lt"/>
              </a:rPr>
              <a:t>What are the amenities (e.g. stores, restaurants) available in a given community?</a:t>
            </a:r>
          </a:p>
          <a:p>
            <a:pPr marL="795020" lvl="1" indent="-337820">
              <a:buFont typeface="Courier New,monospace" panose="05000000000000000000" pitchFamily="2" charset="2"/>
              <a:buChar char="o"/>
            </a:pPr>
            <a:r>
              <a:rPr lang="en-US" dirty="0">
                <a:ea typeface="+mn-lt"/>
                <a:cs typeface="+mn-lt"/>
              </a:rPr>
              <a:t>Do the amenities satisfy the needs of residents?</a:t>
            </a:r>
          </a:p>
          <a:p>
            <a:pPr marL="1258570" lvl="2" indent="-344170">
              <a:buFont typeface="Courier New,monospace" panose="05000000000000000000" pitchFamily="2" charset="2"/>
              <a:buChar char="o"/>
            </a:pPr>
            <a:r>
              <a:rPr lang="en-US" dirty="0">
                <a:ea typeface="+mn-lt"/>
                <a:cs typeface="+mn-lt"/>
              </a:rPr>
              <a:t>E.g. Are there any Catholic churches in a community with a high number of Catholics?</a:t>
            </a:r>
          </a:p>
          <a:p>
            <a:pPr marL="344170" indent="-344170"/>
            <a:r>
              <a:rPr lang="en-US" dirty="0">
                <a:ea typeface="+mn-lt"/>
                <a:cs typeface="+mn-lt"/>
              </a:rPr>
              <a:t>Green Spaces</a:t>
            </a:r>
            <a:endParaRPr lang="en-US" dirty="0"/>
          </a:p>
          <a:p>
            <a:pPr marL="795020" lvl="1" indent="-337820">
              <a:buFont typeface="Courier New,monospace" panose="05000000000000000000" pitchFamily="2" charset="2"/>
              <a:buChar char="o"/>
            </a:pPr>
            <a:r>
              <a:rPr lang="en-US" sz="2100" dirty="0">
                <a:ea typeface="+mn-lt"/>
                <a:cs typeface="+mn-lt"/>
              </a:rPr>
              <a:t>Where are the green spaces in a </a:t>
            </a:r>
            <a:r>
              <a:rPr lang="en-US" sz="2000" dirty="0">
                <a:ea typeface="+mn-lt"/>
                <a:cs typeface="+mn-lt"/>
              </a:rPr>
              <a:t>given community located?</a:t>
            </a:r>
          </a:p>
          <a:p>
            <a:pPr marL="795020" lvl="1" indent="-337820">
              <a:buFont typeface="Courier New,monospace" panose="05000000000000000000" pitchFamily="2" charset="2"/>
              <a:buChar char="o"/>
            </a:pPr>
            <a:r>
              <a:rPr lang="en-US" sz="2000" dirty="0">
                <a:ea typeface="+mn-lt"/>
                <a:cs typeface="+mn-lt"/>
              </a:rPr>
              <a:t>Is there enough greenspace for a given community?</a:t>
            </a:r>
          </a:p>
        </p:txBody>
      </p:sp>
    </p:spTree>
    <p:extLst>
      <p:ext uri="{BB962C8B-B14F-4D97-AF65-F5344CB8AC3E}">
        <p14:creationId xmlns:p14="http://schemas.microsoft.com/office/powerpoint/2010/main" val="3391276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D783D-7498-B960-5891-C56F1585F84F}"/>
              </a:ext>
            </a:extLst>
          </p:cNvPr>
          <p:cNvSpPr>
            <a:spLocks noGrp="1"/>
          </p:cNvSpPr>
          <p:nvPr>
            <p:ph type="title"/>
          </p:nvPr>
        </p:nvSpPr>
        <p:spPr/>
        <p:txBody>
          <a:bodyPr/>
          <a:lstStyle/>
          <a:p>
            <a:r>
              <a:rPr lang="en-US" dirty="0">
                <a:cs typeface="Arial"/>
              </a:rPr>
              <a:t>Competency Questions</a:t>
            </a:r>
            <a:endParaRPr lang="en-US" dirty="0"/>
          </a:p>
        </p:txBody>
      </p:sp>
      <p:sp>
        <p:nvSpPr>
          <p:cNvPr id="3" name="Content Placeholder 2">
            <a:extLst>
              <a:ext uri="{FF2B5EF4-FFF2-40B4-BE49-F238E27FC236}">
                <a16:creationId xmlns:a16="http://schemas.microsoft.com/office/drawing/2014/main" id="{D523A22F-D47F-BC87-10ED-26457C713822}"/>
              </a:ext>
            </a:extLst>
          </p:cNvPr>
          <p:cNvSpPr>
            <a:spLocks noGrp="1"/>
          </p:cNvSpPr>
          <p:nvPr>
            <p:ph idx="1"/>
          </p:nvPr>
        </p:nvSpPr>
        <p:spPr/>
        <p:txBody>
          <a:bodyPr>
            <a:normAutofit/>
          </a:bodyPr>
          <a:lstStyle/>
          <a:p>
            <a:pPr marL="344170" indent="-344170"/>
            <a:r>
              <a:rPr lang="en-US" dirty="0">
                <a:cs typeface="Arial"/>
              </a:rPr>
              <a:t>Economy</a:t>
            </a:r>
          </a:p>
          <a:p>
            <a:pPr marL="795020" lvl="1" indent="-337820">
              <a:buFont typeface="Courier New" panose="05000000000000000000" pitchFamily="2" charset="2"/>
              <a:buChar char="o"/>
            </a:pPr>
            <a:r>
              <a:rPr lang="en-US" dirty="0">
                <a:cs typeface="Arial"/>
              </a:rPr>
              <a:t>What are the income levels of community residents?</a:t>
            </a:r>
          </a:p>
          <a:p>
            <a:pPr marL="795020" lvl="1" indent="-337820">
              <a:buFont typeface="Courier New" panose="05000000000000000000" pitchFamily="2" charset="2"/>
              <a:buChar char="o"/>
            </a:pPr>
            <a:r>
              <a:rPr lang="en-US" dirty="0">
                <a:cs typeface="Arial"/>
              </a:rPr>
              <a:t>What are the education levels of community residents?</a:t>
            </a:r>
          </a:p>
          <a:p>
            <a:pPr marL="795020" lvl="1" indent="-337820">
              <a:buFont typeface="Courier New" panose="05000000000000000000" pitchFamily="2" charset="2"/>
              <a:buChar char="o"/>
            </a:pPr>
            <a:r>
              <a:rPr lang="en-US" dirty="0">
                <a:cs typeface="Arial"/>
              </a:rPr>
              <a:t>What are the employment/unemployment rates of a given community?</a:t>
            </a:r>
            <a:endParaRPr lang="en-US" dirty="0"/>
          </a:p>
          <a:p>
            <a:pPr marL="344170" indent="-344170"/>
            <a:r>
              <a:rPr lang="en-US" dirty="0">
                <a:cs typeface="Arial"/>
              </a:rPr>
              <a:t>Engagement</a:t>
            </a:r>
          </a:p>
          <a:p>
            <a:pPr marL="795020" lvl="1" indent="-337820">
              <a:buFont typeface="Courier New" panose="05000000000000000000" pitchFamily="2" charset="2"/>
              <a:buChar char="o"/>
            </a:pPr>
            <a:r>
              <a:rPr lang="en-US" dirty="0">
                <a:cs typeface="Arial"/>
              </a:rPr>
              <a:t>Are there opportunities for residents to be involved in public engagement?</a:t>
            </a:r>
          </a:p>
        </p:txBody>
      </p:sp>
    </p:spTree>
    <p:extLst>
      <p:ext uri="{BB962C8B-B14F-4D97-AF65-F5344CB8AC3E}">
        <p14:creationId xmlns:p14="http://schemas.microsoft.com/office/powerpoint/2010/main" val="2891804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D783D-7498-B960-5891-C56F1585F84F}"/>
              </a:ext>
            </a:extLst>
          </p:cNvPr>
          <p:cNvSpPr>
            <a:spLocks noGrp="1"/>
          </p:cNvSpPr>
          <p:nvPr>
            <p:ph type="title"/>
          </p:nvPr>
        </p:nvSpPr>
        <p:spPr/>
        <p:txBody>
          <a:bodyPr/>
          <a:lstStyle/>
          <a:p>
            <a:r>
              <a:rPr lang="en-US" dirty="0">
                <a:cs typeface="Arial"/>
              </a:rPr>
              <a:t>Competency Questions</a:t>
            </a:r>
            <a:endParaRPr lang="en-US" dirty="0"/>
          </a:p>
        </p:txBody>
      </p:sp>
      <p:sp>
        <p:nvSpPr>
          <p:cNvPr id="3" name="Content Placeholder 2">
            <a:extLst>
              <a:ext uri="{FF2B5EF4-FFF2-40B4-BE49-F238E27FC236}">
                <a16:creationId xmlns:a16="http://schemas.microsoft.com/office/drawing/2014/main" id="{D523A22F-D47F-BC87-10ED-26457C713822}"/>
              </a:ext>
            </a:extLst>
          </p:cNvPr>
          <p:cNvSpPr>
            <a:spLocks noGrp="1"/>
          </p:cNvSpPr>
          <p:nvPr>
            <p:ph idx="1"/>
          </p:nvPr>
        </p:nvSpPr>
        <p:spPr/>
        <p:txBody>
          <a:bodyPr>
            <a:normAutofit/>
          </a:bodyPr>
          <a:lstStyle/>
          <a:p>
            <a:pPr marL="344170" indent="-344170"/>
            <a:r>
              <a:rPr lang="en-US" dirty="0">
                <a:cs typeface="Arial"/>
              </a:rPr>
              <a:t>Diversity</a:t>
            </a:r>
          </a:p>
          <a:p>
            <a:pPr marL="795020" lvl="1" indent="-337820">
              <a:buFont typeface="Courier New" panose="05000000000000000000" pitchFamily="2" charset="2"/>
              <a:buChar char="o"/>
            </a:pPr>
            <a:r>
              <a:rPr lang="en-US" dirty="0">
                <a:cs typeface="Arial"/>
              </a:rPr>
              <a:t>What are the land use/zoning laws in a given community?</a:t>
            </a:r>
          </a:p>
          <a:p>
            <a:pPr marL="795020" lvl="1" indent="-337820">
              <a:buFont typeface="Courier New" panose="05000000000000000000" pitchFamily="2" charset="2"/>
              <a:buChar char="o"/>
            </a:pPr>
            <a:endParaRPr lang="en-US" dirty="0">
              <a:cs typeface="Arial"/>
            </a:endParaRPr>
          </a:p>
          <a:p>
            <a:pPr marL="344170" indent="-344170"/>
            <a:r>
              <a:rPr lang="en-US" dirty="0">
                <a:cs typeface="Arial"/>
              </a:rPr>
              <a:t>Density</a:t>
            </a:r>
          </a:p>
          <a:p>
            <a:pPr marL="795020" lvl="1" indent="-337820">
              <a:buFont typeface="Courier New" panose="05000000000000000000" pitchFamily="2" charset="2"/>
              <a:buChar char="o"/>
            </a:pPr>
            <a:r>
              <a:rPr lang="en-US" dirty="0">
                <a:cs typeface="Arial"/>
              </a:rPr>
              <a:t>How dense is a given community?</a:t>
            </a:r>
          </a:p>
          <a:p>
            <a:pPr marL="1258570" lvl="2" indent="-344170"/>
            <a:r>
              <a:rPr lang="en-US" dirty="0">
                <a:cs typeface="Arial"/>
              </a:rPr>
              <a:t>E.g. population density, dwelling density</a:t>
            </a:r>
          </a:p>
          <a:p>
            <a:pPr marL="795020" lvl="1" indent="-337820">
              <a:buFont typeface="Courier New" panose="05000000000000000000" pitchFamily="2" charset="2"/>
              <a:buChar char="o"/>
            </a:pPr>
            <a:r>
              <a:rPr lang="en-US" dirty="0">
                <a:cs typeface="Arial"/>
              </a:rPr>
              <a:t>How compact/walkable is a given community?</a:t>
            </a:r>
          </a:p>
          <a:p>
            <a:pPr marL="1258570" lvl="2" indent="-344170"/>
            <a:r>
              <a:rPr lang="en-US" dirty="0">
                <a:cs typeface="Arial"/>
              </a:rPr>
              <a:t>E.g. Walk Score</a:t>
            </a:r>
          </a:p>
        </p:txBody>
      </p:sp>
    </p:spTree>
    <p:extLst>
      <p:ext uri="{BB962C8B-B14F-4D97-AF65-F5344CB8AC3E}">
        <p14:creationId xmlns:p14="http://schemas.microsoft.com/office/powerpoint/2010/main" val="2507611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D783D-7498-B960-5891-C56F1585F84F}"/>
              </a:ext>
            </a:extLst>
          </p:cNvPr>
          <p:cNvSpPr>
            <a:spLocks noGrp="1"/>
          </p:cNvSpPr>
          <p:nvPr>
            <p:ph type="title"/>
          </p:nvPr>
        </p:nvSpPr>
        <p:spPr/>
        <p:txBody>
          <a:bodyPr/>
          <a:lstStyle/>
          <a:p>
            <a:r>
              <a:rPr lang="en-US" dirty="0">
                <a:cs typeface="Arial"/>
              </a:rPr>
              <a:t>Competency Questions</a:t>
            </a:r>
            <a:endParaRPr lang="en-US" dirty="0"/>
          </a:p>
        </p:txBody>
      </p:sp>
      <p:sp>
        <p:nvSpPr>
          <p:cNvPr id="3" name="Content Placeholder 2">
            <a:extLst>
              <a:ext uri="{FF2B5EF4-FFF2-40B4-BE49-F238E27FC236}">
                <a16:creationId xmlns:a16="http://schemas.microsoft.com/office/drawing/2014/main" id="{D523A22F-D47F-BC87-10ED-26457C713822}"/>
              </a:ext>
            </a:extLst>
          </p:cNvPr>
          <p:cNvSpPr>
            <a:spLocks noGrp="1"/>
          </p:cNvSpPr>
          <p:nvPr>
            <p:ph idx="1"/>
          </p:nvPr>
        </p:nvSpPr>
        <p:spPr/>
        <p:txBody>
          <a:bodyPr>
            <a:normAutofit/>
          </a:bodyPr>
          <a:lstStyle/>
          <a:p>
            <a:pPr marL="344170" indent="-344170"/>
            <a:r>
              <a:rPr lang="en-US" dirty="0">
                <a:cs typeface="Arial"/>
              </a:rPr>
              <a:t>Character</a:t>
            </a:r>
          </a:p>
          <a:p>
            <a:pPr marL="795020" lvl="1" indent="-337820">
              <a:buFont typeface="Courier New" panose="05000000000000000000" pitchFamily="2" charset="2"/>
              <a:buChar char="o"/>
            </a:pPr>
            <a:r>
              <a:rPr lang="en-US" dirty="0">
                <a:cs typeface="Arial"/>
              </a:rPr>
              <a:t>Public Safety</a:t>
            </a:r>
          </a:p>
          <a:p>
            <a:pPr marL="1258570" lvl="2" indent="-344170"/>
            <a:r>
              <a:rPr lang="en-US" dirty="0">
                <a:cs typeface="Arial"/>
              </a:rPr>
              <a:t>Do residents feel comfortable and safe in their communities?</a:t>
            </a:r>
            <a:endParaRPr lang="en-US">
              <a:cs typeface="Arial"/>
            </a:endParaRPr>
          </a:p>
          <a:p>
            <a:pPr marL="795020" lvl="1" indent="-337820">
              <a:buFont typeface="Courier New" panose="05000000000000000000" pitchFamily="2" charset="2"/>
              <a:buChar char="o"/>
            </a:pPr>
            <a:r>
              <a:rPr lang="en-US" dirty="0">
                <a:cs typeface="Arial"/>
              </a:rPr>
              <a:t>Look and Feel</a:t>
            </a:r>
          </a:p>
          <a:p>
            <a:pPr marL="1258570" lvl="2" indent="-344170"/>
            <a:r>
              <a:rPr lang="en-US" dirty="0">
                <a:cs typeface="Arial"/>
              </a:rPr>
              <a:t>Do residents feel satisfied and happy with their communities?</a:t>
            </a:r>
          </a:p>
          <a:p>
            <a:pPr marL="795020" lvl="1" indent="-337820">
              <a:buFont typeface="Courier New" panose="05000000000000000000" pitchFamily="2" charset="2"/>
              <a:buChar char="o"/>
            </a:pPr>
            <a:endParaRPr lang="en-US" dirty="0">
              <a:cs typeface="Arial"/>
            </a:endParaRPr>
          </a:p>
        </p:txBody>
      </p:sp>
    </p:spTree>
    <p:extLst>
      <p:ext uri="{BB962C8B-B14F-4D97-AF65-F5344CB8AC3E}">
        <p14:creationId xmlns:p14="http://schemas.microsoft.com/office/powerpoint/2010/main" val="2457050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Housing</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2730669" y="2309693"/>
            <a:ext cx="7796540" cy="3997828"/>
          </a:xfrm>
        </p:spPr>
        <p:txBody>
          <a:bodyPr>
            <a:normAutofit fontScale="77500" lnSpcReduction="20000"/>
          </a:bodyPr>
          <a:lstStyle/>
          <a:p>
            <a:pPr marL="344170" indent="-344170"/>
            <a:r>
              <a:rPr lang="en-US" dirty="0">
                <a:cs typeface="Arial" panose="020B0604020202020204"/>
              </a:rPr>
              <a:t>Diverse housing options</a:t>
            </a:r>
          </a:p>
          <a:p>
            <a:pPr marL="795020" lvl="1" indent="-337820"/>
            <a:r>
              <a:rPr lang="en-US" dirty="0">
                <a:cs typeface="Arial" panose="020B0604020202020204"/>
              </a:rPr>
              <a:t>Dwelling types (e.g. single detached house, row house, etc.) from Canadian Census</a:t>
            </a:r>
          </a:p>
          <a:p>
            <a:pPr marL="795020" lvl="1" indent="-337820"/>
            <a:r>
              <a:rPr lang="en-US" dirty="0">
                <a:cs typeface="Arial" panose="020B0604020202020204"/>
              </a:rPr>
              <a:t>Schema.org Accommodation (</a:t>
            </a:r>
            <a:r>
              <a:rPr lang="en-US" dirty="0">
                <a:ea typeface="+mn-lt"/>
                <a:cs typeface="+mn-lt"/>
                <a:hlinkClick r:id="rId2"/>
              </a:rPr>
              <a:t>https://schema.org/Accommodation</a:t>
            </a:r>
            <a:r>
              <a:rPr lang="en-US" dirty="0">
                <a:cs typeface="Arial"/>
              </a:rPr>
              <a:t>)</a:t>
            </a:r>
          </a:p>
          <a:p>
            <a:pPr marL="1258570" lvl="2" indent="-344170"/>
            <a:r>
              <a:rPr lang="en-US" dirty="0">
                <a:cs typeface="Arial"/>
              </a:rPr>
              <a:t>House (</a:t>
            </a:r>
            <a:r>
              <a:rPr lang="en-US" dirty="0">
                <a:ea typeface="+mn-lt"/>
                <a:cs typeface="+mn-lt"/>
                <a:hlinkClick r:id="rId3"/>
              </a:rPr>
              <a:t>https://schema.org/House</a:t>
            </a:r>
            <a:r>
              <a:rPr lang="en-US" dirty="0">
                <a:cs typeface="Arial"/>
              </a:rPr>
              <a:t>)</a:t>
            </a:r>
          </a:p>
          <a:p>
            <a:pPr marL="1258570" lvl="2" indent="-344170"/>
            <a:r>
              <a:rPr lang="en-US" dirty="0">
                <a:cs typeface="Arial"/>
              </a:rPr>
              <a:t>Apartment (</a:t>
            </a:r>
            <a:r>
              <a:rPr lang="en-US" dirty="0">
                <a:ea typeface="+mn-lt"/>
                <a:cs typeface="+mn-lt"/>
                <a:hlinkClick r:id="rId4"/>
              </a:rPr>
              <a:t>https://schema.org/Apartment</a:t>
            </a:r>
            <a:r>
              <a:rPr lang="en-US" dirty="0">
                <a:cs typeface="Arial"/>
              </a:rPr>
              <a:t>)</a:t>
            </a:r>
          </a:p>
          <a:p>
            <a:pPr marL="795020" lvl="1" indent="-337820"/>
            <a:r>
              <a:rPr lang="en-US" dirty="0"/>
              <a:t>Retirement Homes (</a:t>
            </a:r>
            <a:r>
              <a:rPr lang="en-US" dirty="0">
                <a:ea typeface="+mn-lt"/>
                <a:cs typeface="+mn-lt"/>
                <a:hlinkClick r:id="rId5"/>
              </a:rPr>
              <a:t>https://open.toronto.ca/dataset/retirement-homes/</a:t>
            </a:r>
            <a:r>
              <a:rPr lang="en-US" dirty="0">
                <a:ea typeface="+mn-lt"/>
                <a:cs typeface="+mn-lt"/>
              </a:rPr>
              <a:t>)</a:t>
            </a:r>
            <a:endParaRPr lang="en-US" dirty="0">
              <a:cs typeface="Arial" panose="020B0604020202020204"/>
            </a:endParaRPr>
          </a:p>
          <a:p>
            <a:pPr marL="344170" indent="-344170"/>
            <a:r>
              <a:rPr lang="en-US" dirty="0">
                <a:cs typeface="Arial" panose="020B0604020202020204"/>
              </a:rPr>
              <a:t>Affordable housing options</a:t>
            </a:r>
          </a:p>
          <a:p>
            <a:pPr marL="795020" lvl="1" indent="-337820"/>
            <a:r>
              <a:rPr lang="en-US" dirty="0">
                <a:cs typeface="Arial" panose="020B0604020202020204"/>
              </a:rPr>
              <a:t>Affordable Housing Access (</a:t>
            </a:r>
            <a:r>
              <a:rPr lang="en-US" dirty="0">
                <a:ea typeface="+mn-lt"/>
                <a:cs typeface="+mn-lt"/>
                <a:hlinkClick r:id="rId6"/>
              </a:rPr>
              <a:t>https://open.toronto.ca/dataset/upcoming-and-recently-completed-affordable-housing-units/</a:t>
            </a:r>
            <a:r>
              <a:rPr lang="en-US" dirty="0">
                <a:ea typeface="+mn-lt"/>
                <a:cs typeface="+mn-lt"/>
              </a:rPr>
              <a:t>)</a:t>
            </a:r>
            <a:endParaRPr lang="en-US" dirty="0">
              <a:cs typeface="Arial" panose="020B0604020202020204"/>
            </a:endParaRPr>
          </a:p>
          <a:p>
            <a:pPr marL="807720" lvl="2" indent="-344170">
              <a:spcBef>
                <a:spcPts val="1000"/>
              </a:spcBef>
            </a:pPr>
            <a:r>
              <a:rPr lang="en-US" sz="1800" dirty="0">
                <a:cs typeface="Arial" panose="020B0604020202020204"/>
              </a:rPr>
              <a:t>Shelter-cost-to-income ratio from Canadian Census</a:t>
            </a:r>
          </a:p>
          <a:p>
            <a:pPr marL="807720" lvl="2" indent="-344170"/>
            <a:r>
              <a:rPr lang="en-US" sz="1800" dirty="0">
                <a:cs typeface="Arial" panose="020B0604020202020204"/>
              </a:rPr>
              <a:t>Housing Suitability from Canadian Census</a:t>
            </a: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2644241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Transportation</a:t>
            </a:r>
            <a:endParaRPr lang="en-US" dirty="0">
              <a:cs typeface="Arial"/>
            </a:endParaRP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2773599" y="2556538"/>
            <a:ext cx="7796540" cy="3997828"/>
          </a:xfrm>
        </p:spPr>
        <p:txBody>
          <a:bodyPr>
            <a:normAutofit/>
          </a:bodyPr>
          <a:lstStyle/>
          <a:p>
            <a:pPr marL="344170" indent="-344170"/>
            <a:r>
              <a:rPr lang="en-US" dirty="0">
                <a:cs typeface="Arial" panose="020B0604020202020204"/>
              </a:rPr>
              <a:t>Street Connectivity</a:t>
            </a:r>
          </a:p>
          <a:p>
            <a:pPr marL="795020" lvl="1" indent="-337820"/>
            <a:r>
              <a:rPr lang="en-US" dirty="0">
                <a:cs typeface="Arial" panose="020B0604020202020204"/>
              </a:rPr>
              <a:t>Roads, bicycle lanes, etc. from OpenStreetMap data</a:t>
            </a:r>
          </a:p>
          <a:p>
            <a:pPr marL="344170" indent="-344170"/>
            <a:r>
              <a:rPr lang="en-US" dirty="0">
                <a:cs typeface="Arial" panose="020B0604020202020204"/>
              </a:rPr>
              <a:t>Public Transportation</a:t>
            </a:r>
          </a:p>
          <a:p>
            <a:pPr marL="795020" lvl="1" indent="-337820"/>
            <a:r>
              <a:rPr lang="en-US" dirty="0">
                <a:cs typeface="Arial" panose="020B0604020202020204"/>
              </a:rPr>
              <a:t>TTC Routes and Schedules (</a:t>
            </a:r>
            <a:r>
              <a:rPr lang="en-US" dirty="0">
                <a:ea typeface="+mn-lt"/>
                <a:cs typeface="+mn-lt"/>
                <a:hlinkClick r:id="rId2"/>
              </a:rPr>
              <a:t>https://open.toronto.ca/dataset/ttc-routes-and-schedules/</a:t>
            </a:r>
            <a:r>
              <a:rPr lang="en-US" dirty="0">
                <a:ea typeface="+mn-lt"/>
                <a:cs typeface="+mn-lt"/>
              </a:rPr>
              <a:t>)</a:t>
            </a:r>
            <a:endParaRPr lang="en-US" dirty="0">
              <a:cs typeface="Arial" panose="020B0604020202020204"/>
            </a:endParaRPr>
          </a:p>
          <a:p>
            <a:pPr marL="344170" indent="-344170"/>
            <a:r>
              <a:rPr lang="en-US" dirty="0">
                <a:cs typeface="Arial" panose="020B0604020202020204"/>
              </a:rPr>
              <a:t>Walkability</a:t>
            </a:r>
          </a:p>
          <a:p>
            <a:pPr marL="795020" lvl="1" indent="-337820"/>
            <a:r>
              <a:rPr lang="en-US" dirty="0">
                <a:cs typeface="Arial" panose="020B0604020202020204"/>
              </a:rPr>
              <a:t>Sidewalk Inventory (</a:t>
            </a:r>
            <a:r>
              <a:rPr lang="en-US" dirty="0">
                <a:ea typeface="+mn-lt"/>
                <a:cs typeface="+mn-lt"/>
                <a:hlinkClick r:id="rId3"/>
              </a:rPr>
              <a:t>https://open.toronto.ca/dataset/sidewalk-inventory/</a:t>
            </a:r>
            <a:r>
              <a:rPr lang="en-US" dirty="0">
                <a:ea typeface="+mn-lt"/>
                <a:cs typeface="+mn-lt"/>
              </a:rPr>
              <a:t>)</a:t>
            </a:r>
            <a:endParaRPr lang="en-US" dirty="0">
              <a:cs typeface="Arial" panose="020B0604020202020204"/>
            </a:endParaRPr>
          </a:p>
          <a:p>
            <a:pPr marL="795020" lvl="1" indent="-337820"/>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2925571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Amenities</a:t>
            </a:r>
            <a:endParaRPr lang="en-US" dirty="0">
              <a:cs typeface="Arial"/>
            </a:endParaRP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2348488" y="1179728"/>
            <a:ext cx="7502302" cy="6218734"/>
          </a:xfrm>
        </p:spPr>
        <p:txBody>
          <a:bodyPr>
            <a:normAutofit fontScale="62500" lnSpcReduction="20000"/>
          </a:bodyPr>
          <a:lstStyle/>
          <a:p>
            <a:pPr marL="344170" indent="-344170"/>
            <a:r>
              <a:rPr lang="en-US" dirty="0">
                <a:cs typeface="Arial" panose="020B0604020202020204"/>
              </a:rPr>
              <a:t>Health</a:t>
            </a:r>
          </a:p>
          <a:p>
            <a:pPr marL="795020" lvl="1" indent="-337820"/>
            <a:r>
              <a:rPr lang="en-US" dirty="0">
                <a:cs typeface="Arial" panose="020B0604020202020204"/>
              </a:rPr>
              <a:t>Hospitals, clinics, etc. </a:t>
            </a:r>
          </a:p>
          <a:p>
            <a:pPr marL="795020" lvl="1" indent="-337820"/>
            <a:r>
              <a:rPr lang="en-US" dirty="0">
                <a:cs typeface="Arial" panose="020B0604020202020204"/>
              </a:rPr>
              <a:t>Hospital Schema.org (</a:t>
            </a:r>
            <a:r>
              <a:rPr lang="en-US" dirty="0">
                <a:ea typeface="+mn-lt"/>
                <a:cs typeface="+mn-lt"/>
                <a:hlinkClick r:id="rId2"/>
              </a:rPr>
              <a:t>https://schema.org/Hospital</a:t>
            </a:r>
            <a:r>
              <a:rPr lang="en-US" dirty="0">
                <a:cs typeface="Arial" panose="020B0604020202020204"/>
              </a:rPr>
              <a:t>)</a:t>
            </a:r>
          </a:p>
          <a:p>
            <a:pPr marL="795020" lvl="1" indent="-337820"/>
            <a:r>
              <a:rPr lang="en-US" dirty="0">
                <a:cs typeface="Arial" panose="020B0604020202020204"/>
              </a:rPr>
              <a:t>Ontario Hospital Locations (</a:t>
            </a:r>
            <a:r>
              <a:rPr lang="en-US" dirty="0">
                <a:ea typeface="+mn-lt"/>
                <a:cs typeface="+mn-lt"/>
                <a:hlinkClick r:id="rId3"/>
              </a:rPr>
              <a:t>https://geohub.lio.gov.on.ca/datasets/ministry-of-health-service-provider-locations/explore?location=45.316018%2C-78.981176%2C5.31</a:t>
            </a:r>
            <a:r>
              <a:rPr lang="en-US" dirty="0">
                <a:ea typeface="+mn-lt"/>
                <a:cs typeface="+mn-lt"/>
              </a:rPr>
              <a:t>)</a:t>
            </a:r>
            <a:endParaRPr lang="en-US" dirty="0"/>
          </a:p>
          <a:p>
            <a:pPr marL="344170" indent="-344170"/>
            <a:r>
              <a:rPr lang="en-US" dirty="0">
                <a:cs typeface="Arial" panose="020B0604020202020204"/>
              </a:rPr>
              <a:t>Retail and Services</a:t>
            </a:r>
          </a:p>
          <a:p>
            <a:pPr marL="795020" lvl="1" indent="-337820"/>
            <a:r>
              <a:rPr lang="en-US" dirty="0">
                <a:cs typeface="Arial" panose="020B0604020202020204"/>
              </a:rPr>
              <a:t>Shops, stores, restaurants, etc.</a:t>
            </a:r>
          </a:p>
          <a:p>
            <a:pPr marL="795020" lvl="1" indent="-337820"/>
            <a:r>
              <a:rPr lang="en-US" dirty="0">
                <a:cs typeface="Arial" panose="020B0604020202020204"/>
              </a:rPr>
              <a:t>Shop data from OpenStreetMap</a:t>
            </a:r>
          </a:p>
          <a:p>
            <a:pPr marL="344170" indent="-344170"/>
            <a:r>
              <a:rPr lang="en-US" dirty="0">
                <a:cs typeface="Arial" panose="020B0604020202020204"/>
              </a:rPr>
              <a:t>Education and Childcare</a:t>
            </a:r>
          </a:p>
          <a:p>
            <a:pPr marL="795020" lvl="1" indent="-337820"/>
            <a:r>
              <a:rPr lang="en-US" dirty="0">
                <a:cs typeface="Arial" panose="020B0604020202020204"/>
              </a:rPr>
              <a:t>Schools, daycares, etc.</a:t>
            </a:r>
          </a:p>
          <a:p>
            <a:pPr marL="795020" lvl="1" indent="-337820"/>
            <a:r>
              <a:rPr lang="en-US" dirty="0">
                <a:cs typeface="Arial" panose="020B0604020202020204"/>
              </a:rPr>
              <a:t>School Schema.org (</a:t>
            </a:r>
            <a:r>
              <a:rPr lang="en-US" dirty="0">
                <a:ea typeface="+mn-lt"/>
                <a:cs typeface="+mn-lt"/>
                <a:hlinkClick r:id="rId4"/>
              </a:rPr>
              <a:t>https://schema.org/School</a:t>
            </a:r>
            <a:r>
              <a:rPr lang="en-US" dirty="0">
                <a:cs typeface="Arial" panose="020B0604020202020204"/>
              </a:rPr>
              <a:t>)</a:t>
            </a:r>
          </a:p>
          <a:p>
            <a:pPr marL="795020" lvl="1" indent="-337820"/>
            <a:r>
              <a:rPr lang="en-US" dirty="0">
                <a:cs typeface="Arial" panose="020B0604020202020204"/>
              </a:rPr>
              <a:t>TDSB School Locations (</a:t>
            </a:r>
            <a:r>
              <a:rPr lang="en-US" dirty="0">
                <a:ea typeface="+mn-lt"/>
                <a:cs typeface="+mn-lt"/>
                <a:hlinkClick r:id="rId5"/>
              </a:rPr>
              <a:t>https://ckan0.cf.opendata.inter.prod-toronto.ca/tr/dataset/toronto-district-school-board-locations/resource/eb3e65f1-b80e-478a-a21d-fa7538a433f7</a:t>
            </a:r>
            <a:r>
              <a:rPr lang="en-US" dirty="0">
                <a:cs typeface="Arial" panose="020B0604020202020204"/>
              </a:rPr>
              <a:t>)</a:t>
            </a:r>
          </a:p>
          <a:p>
            <a:pPr marL="344170" indent="-344170"/>
            <a:r>
              <a:rPr lang="en-US" dirty="0">
                <a:cs typeface="Arial" panose="020B0604020202020204"/>
              </a:rPr>
              <a:t>Spiritual/Cultural</a:t>
            </a:r>
          </a:p>
          <a:p>
            <a:pPr marL="795020" lvl="1" indent="-337820"/>
            <a:r>
              <a:rPr lang="en-US" dirty="0">
                <a:cs typeface="Arial" panose="020B0604020202020204"/>
              </a:rPr>
              <a:t>Churches, mosques, temples, etc.</a:t>
            </a:r>
          </a:p>
          <a:p>
            <a:pPr marL="795020" lvl="1" indent="-337820"/>
            <a:r>
              <a:rPr lang="en-US" dirty="0">
                <a:cs typeface="Arial" panose="020B0604020202020204"/>
              </a:rPr>
              <a:t>Places of Worship from OpenStreetMap</a:t>
            </a:r>
          </a:p>
          <a:p>
            <a:pPr marL="344170" indent="-344170"/>
            <a:r>
              <a:rPr lang="en-US" dirty="0">
                <a:cs typeface="Arial" panose="020B0604020202020204"/>
              </a:rPr>
              <a:t>Recreational</a:t>
            </a:r>
          </a:p>
          <a:p>
            <a:pPr marL="795020" lvl="1" indent="-337820"/>
            <a:r>
              <a:rPr lang="en-US" dirty="0">
                <a:cs typeface="Arial" panose="020B0604020202020204"/>
              </a:rPr>
              <a:t>Parks and Recreation Facilities (</a:t>
            </a:r>
            <a:r>
              <a:rPr lang="en-US" dirty="0">
                <a:ea typeface="+mn-lt"/>
                <a:cs typeface="+mn-lt"/>
                <a:hlinkClick r:id="rId6"/>
              </a:rPr>
              <a:t>https://open.toronto.ca/dataset/parks-and-recreation-facilities/</a:t>
            </a:r>
            <a:r>
              <a:rPr lang="en-US" dirty="0">
                <a:ea typeface="+mn-lt"/>
                <a:cs typeface="+mn-lt"/>
              </a:rPr>
              <a:t>)</a:t>
            </a:r>
            <a:endParaRPr lang="en-US" dirty="0">
              <a:cs typeface="Arial" panose="020B0604020202020204"/>
            </a:endParaRPr>
          </a:p>
          <a:p>
            <a:pPr marL="795020" lvl="1" indent="-337820"/>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747881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Green Spaces</a:t>
            </a:r>
            <a:endParaRPr lang="en-US" dirty="0">
              <a:cs typeface="Arial"/>
            </a:endParaRP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159966" y="2159440"/>
            <a:ext cx="6433525" cy="4813489"/>
          </a:xfrm>
        </p:spPr>
        <p:txBody>
          <a:bodyPr>
            <a:normAutofit/>
          </a:bodyPr>
          <a:lstStyle/>
          <a:p>
            <a:pPr marL="344170" indent="-344170"/>
            <a:r>
              <a:rPr lang="en-US" dirty="0">
                <a:cs typeface="Arial" panose="020B0604020202020204"/>
              </a:rPr>
              <a:t>Parks</a:t>
            </a:r>
          </a:p>
          <a:p>
            <a:pPr marL="795020" lvl="1" indent="-337820"/>
            <a:r>
              <a:rPr lang="en-US" dirty="0">
                <a:cs typeface="Arial" panose="020B0604020202020204"/>
              </a:rPr>
              <a:t>Green spaces in Toronto (</a:t>
            </a:r>
            <a:r>
              <a:rPr lang="en-US" dirty="0">
                <a:ea typeface="+mn-lt"/>
                <a:cs typeface="+mn-lt"/>
                <a:hlinkClick r:id="rId2"/>
              </a:rPr>
              <a:t>https://open.toronto.ca/dataset/green-spaces/</a:t>
            </a:r>
            <a:r>
              <a:rPr lang="en-US" dirty="0">
                <a:ea typeface="+mn-lt"/>
                <a:cs typeface="+mn-lt"/>
              </a:rPr>
              <a:t>)</a:t>
            </a:r>
            <a:endParaRPr lang="en-US" dirty="0">
              <a:cs typeface="Arial" panose="020B0604020202020204"/>
            </a:endParaRPr>
          </a:p>
          <a:p>
            <a:pPr marL="344170" indent="-344170"/>
            <a:r>
              <a:rPr lang="en-US" dirty="0">
                <a:cs typeface="Arial" panose="020B0604020202020204"/>
              </a:rPr>
              <a:t>Agriculture</a:t>
            </a:r>
          </a:p>
          <a:p>
            <a:pPr marL="795020" lvl="1" indent="-337820"/>
            <a:r>
              <a:rPr lang="en-US" dirty="0">
                <a:cs typeface="Arial" panose="020B0604020202020204"/>
              </a:rPr>
              <a:t>Farms, pastures, etc.</a:t>
            </a:r>
          </a:p>
          <a:p>
            <a:pPr marL="344170" indent="-344170"/>
            <a:r>
              <a:rPr lang="en-US" dirty="0">
                <a:cs typeface="Arial" panose="020B0604020202020204"/>
              </a:rPr>
              <a:t>Environmental Protection</a:t>
            </a:r>
          </a:p>
          <a:p>
            <a:pPr marL="795020" lvl="1" indent="-337820"/>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69152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Economy</a:t>
            </a:r>
            <a:endParaRPr lang="en-US" dirty="0">
              <a:cs typeface="Arial"/>
            </a:endParaRP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159966" y="2159440"/>
            <a:ext cx="6433525" cy="4813489"/>
          </a:xfrm>
        </p:spPr>
        <p:txBody>
          <a:bodyPr>
            <a:normAutofit/>
          </a:bodyPr>
          <a:lstStyle/>
          <a:p>
            <a:pPr marL="344170" indent="-344170"/>
            <a:r>
              <a:rPr lang="en-US" dirty="0">
                <a:cs typeface="Arial" panose="020B0604020202020204"/>
              </a:rPr>
              <a:t>Access to good jobs</a:t>
            </a:r>
          </a:p>
          <a:p>
            <a:pPr marL="795020" lvl="1" indent="-337820"/>
            <a:r>
              <a:rPr lang="en-US" dirty="0">
                <a:cs typeface="Arial" panose="020B0604020202020204"/>
              </a:rPr>
              <a:t>Employment/unemployment rates from Canadian Census</a:t>
            </a:r>
          </a:p>
          <a:p>
            <a:pPr marL="795020" lvl="1" indent="-337820"/>
            <a:r>
              <a:rPr lang="en-US" dirty="0">
                <a:cs typeface="Arial" panose="020B0604020202020204"/>
              </a:rPr>
              <a:t>Post secondary school completion rates from Canadian Census</a:t>
            </a:r>
          </a:p>
          <a:p>
            <a:pPr marL="344170" indent="-344170"/>
            <a:r>
              <a:rPr lang="en-US" dirty="0">
                <a:cs typeface="Arial" panose="020B0604020202020204"/>
              </a:rPr>
              <a:t>Economic Development</a:t>
            </a:r>
          </a:p>
          <a:p>
            <a:pPr marL="795020" lvl="1" indent="-337820"/>
            <a:r>
              <a:rPr lang="en-US" dirty="0">
                <a:cs typeface="Arial" panose="020B0604020202020204"/>
              </a:rPr>
              <a:t>Income levels from Canadian Census</a:t>
            </a:r>
          </a:p>
          <a:p>
            <a:pPr marL="344170" indent="-344170"/>
            <a:endParaRPr lang="en-US" dirty="0">
              <a:cs typeface="Arial" panose="020B0604020202020204"/>
            </a:endParaRPr>
          </a:p>
          <a:p>
            <a:pPr marL="795020" lvl="1" indent="-337820"/>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4210875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Engagement</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159966" y="2769040"/>
            <a:ext cx="6433525" cy="4813489"/>
          </a:xfrm>
        </p:spPr>
        <p:txBody>
          <a:bodyPr>
            <a:normAutofit/>
          </a:bodyPr>
          <a:lstStyle/>
          <a:p>
            <a:pPr marL="344170" indent="-344170"/>
            <a:r>
              <a:rPr lang="en-US" dirty="0">
                <a:cs typeface="Arial" panose="020B0604020202020204"/>
              </a:rPr>
              <a:t>Civic Engagement</a:t>
            </a:r>
          </a:p>
          <a:p>
            <a:pPr marL="795020" lvl="1" indent="-337820"/>
            <a:r>
              <a:rPr lang="en-US" dirty="0">
                <a:cs typeface="Arial" panose="020B0604020202020204"/>
              </a:rPr>
              <a:t>Toronto elections voter statistics (</a:t>
            </a:r>
            <a:r>
              <a:rPr lang="en-US" dirty="0">
                <a:ea typeface="+mn-lt"/>
                <a:cs typeface="+mn-lt"/>
                <a:hlinkClick r:id="rId2"/>
              </a:rPr>
              <a:t>https://open.toronto.ca/dataset/elections-voter-statistics/</a:t>
            </a:r>
            <a:r>
              <a:rPr lang="en-US" dirty="0">
                <a:ea typeface="+mn-lt"/>
                <a:cs typeface="+mn-lt"/>
              </a:rPr>
              <a:t>)</a:t>
            </a:r>
            <a:endParaRPr lang="en-US" dirty="0">
              <a:cs typeface="Arial" panose="020B0604020202020204"/>
            </a:endParaRPr>
          </a:p>
          <a:p>
            <a:pPr marL="795020" lvl="1" indent="-337820"/>
            <a:r>
              <a:rPr lang="en-US" dirty="0">
                <a:ea typeface="+mn-lt"/>
                <a:cs typeface="+mn-lt"/>
              </a:rPr>
              <a:t>Toronto </a:t>
            </a:r>
            <a:r>
              <a:rPr lang="en-US" dirty="0"/>
              <a:t>Public Engagement Review Survey</a:t>
            </a:r>
            <a:r>
              <a:rPr lang="en-US" dirty="0">
                <a:ea typeface="+mn-lt"/>
                <a:cs typeface="+mn-lt"/>
              </a:rPr>
              <a:t> (</a:t>
            </a:r>
            <a:r>
              <a:rPr lang="en-US" dirty="0">
                <a:ea typeface="+mn-lt"/>
                <a:cs typeface="+mn-lt"/>
                <a:hlinkClick r:id="rId3"/>
              </a:rPr>
              <a:t>https://open.toronto.ca/dataset/public-engagement-review-survey/</a:t>
            </a:r>
            <a:r>
              <a:rPr lang="en-US" dirty="0">
                <a:ea typeface="+mn-lt"/>
                <a:cs typeface="+mn-lt"/>
              </a:rPr>
              <a:t>)</a:t>
            </a:r>
            <a:endParaRPr lang="en-US" dirty="0">
              <a:cs typeface="Arial" panose="020B0604020202020204"/>
            </a:endParaRPr>
          </a:p>
          <a:p>
            <a:pPr marL="344170" indent="-344170"/>
            <a:r>
              <a:rPr lang="en-US" dirty="0">
                <a:cs typeface="Arial" panose="020B0604020202020204"/>
              </a:rPr>
              <a:t>Public Consultation</a:t>
            </a:r>
          </a:p>
          <a:p>
            <a:pPr marL="795020" lvl="1" indent="-337820"/>
            <a:endParaRPr lang="en-US" dirty="0">
              <a:cs typeface="Arial" panose="020B0604020202020204"/>
            </a:endParaRPr>
          </a:p>
          <a:p>
            <a:pPr marL="344170" indent="-344170"/>
            <a:endParaRPr lang="en-US" dirty="0">
              <a:cs typeface="Arial" panose="020B0604020202020204"/>
            </a:endParaRPr>
          </a:p>
          <a:p>
            <a:pPr marL="795020" lvl="1" indent="-337820"/>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2308215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Diversity</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140174" y="2406843"/>
            <a:ext cx="6433525" cy="4813489"/>
          </a:xfrm>
        </p:spPr>
        <p:txBody>
          <a:bodyPr>
            <a:normAutofit/>
          </a:bodyPr>
          <a:lstStyle/>
          <a:p>
            <a:pPr marL="344170" indent="-344170"/>
            <a:r>
              <a:rPr lang="en-US" dirty="0">
                <a:cs typeface="Arial" panose="020B0604020202020204"/>
              </a:rPr>
              <a:t>Land use</a:t>
            </a:r>
          </a:p>
          <a:p>
            <a:pPr marL="795020" lvl="1" indent="-337820"/>
            <a:r>
              <a:rPr lang="en-US" dirty="0">
                <a:cs typeface="Arial" panose="020B0604020202020204"/>
              </a:rPr>
              <a:t>Zoning and land use policies (</a:t>
            </a:r>
            <a:r>
              <a:rPr lang="en-US" dirty="0">
                <a:ea typeface="+mn-lt"/>
                <a:cs typeface="+mn-lt"/>
                <a:hlinkClick r:id="rId2"/>
              </a:rPr>
              <a:t>https://map.toronto.ca/maps/map.jsp?app=ZBL_CONSULT</a:t>
            </a:r>
            <a:r>
              <a:rPr lang="en-US" dirty="0">
                <a:ea typeface="+mn-lt"/>
                <a:cs typeface="+mn-lt"/>
              </a:rPr>
              <a:t>)</a:t>
            </a:r>
          </a:p>
          <a:p>
            <a:pPr marL="344170" indent="-344170"/>
            <a:r>
              <a:rPr lang="en-US" dirty="0">
                <a:cs typeface="Arial" panose="020B0604020202020204"/>
              </a:rPr>
              <a:t>Built form</a:t>
            </a:r>
          </a:p>
          <a:p>
            <a:pPr marL="795020" lvl="1" indent="-337820"/>
            <a:r>
              <a:rPr lang="en-US" dirty="0">
                <a:cs typeface="Arial" panose="020B0604020202020204"/>
              </a:rPr>
              <a:t>Building data from OpenStreetMap</a:t>
            </a:r>
          </a:p>
          <a:p>
            <a:pPr marL="344170" indent="-344170"/>
            <a:r>
              <a:rPr lang="en-US" dirty="0">
                <a:cs typeface="Arial" panose="020B0604020202020204"/>
              </a:rPr>
              <a:t>Housing types</a:t>
            </a:r>
          </a:p>
          <a:p>
            <a:pPr marL="795020" lvl="1" indent="-337820"/>
            <a:endParaRPr lang="en-US" dirty="0">
              <a:cs typeface="Arial" panose="020B0604020202020204"/>
            </a:endParaRPr>
          </a:p>
          <a:p>
            <a:pPr marL="344170" indent="-344170"/>
            <a:endParaRPr lang="en-US" dirty="0">
              <a:cs typeface="Arial" panose="020B0604020202020204"/>
            </a:endParaRPr>
          </a:p>
          <a:p>
            <a:pPr marL="795020" lvl="1" indent="-337820"/>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1501618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Density</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150070" y="2654245"/>
            <a:ext cx="6433525" cy="4813489"/>
          </a:xfrm>
        </p:spPr>
        <p:txBody>
          <a:bodyPr>
            <a:normAutofit/>
          </a:bodyPr>
          <a:lstStyle/>
          <a:p>
            <a:pPr marL="344170" indent="-344170"/>
            <a:r>
              <a:rPr lang="en-US" dirty="0">
                <a:cs typeface="Arial" panose="020B0604020202020204"/>
              </a:rPr>
              <a:t>High density development</a:t>
            </a:r>
          </a:p>
          <a:p>
            <a:pPr marL="795020" lvl="1" indent="-337820"/>
            <a:r>
              <a:rPr lang="en-US" dirty="0">
                <a:cs typeface="Arial" panose="020B0604020202020204"/>
              </a:rPr>
              <a:t>Population density from Canadian Census</a:t>
            </a:r>
          </a:p>
          <a:p>
            <a:pPr marL="795020" lvl="1" indent="-337820"/>
            <a:r>
              <a:rPr lang="en-US" dirty="0">
                <a:cs typeface="Arial" panose="020B0604020202020204"/>
              </a:rPr>
              <a:t>Dwelling density (number of dwellings divided by land area from Canadian Census)</a:t>
            </a:r>
          </a:p>
          <a:p>
            <a:pPr marL="795020" lvl="1" indent="-337820"/>
            <a:r>
              <a:rPr lang="en-US" dirty="0">
                <a:cs typeface="Arial" panose="020B0604020202020204"/>
              </a:rPr>
              <a:t>Average household size from Canadian Census</a:t>
            </a:r>
          </a:p>
          <a:p>
            <a:pPr marL="344170" indent="-344170"/>
            <a:r>
              <a:rPr lang="en-US" dirty="0">
                <a:cs typeface="Arial" panose="020B0604020202020204"/>
              </a:rPr>
              <a:t>Compact development</a:t>
            </a:r>
          </a:p>
          <a:p>
            <a:pPr marL="795020" lvl="1" indent="-337820"/>
            <a:r>
              <a:rPr lang="en-US" dirty="0">
                <a:cs typeface="Arial" panose="020B0604020202020204"/>
              </a:rPr>
              <a:t>Walkability Score from walkscore.com</a:t>
            </a:r>
          </a:p>
          <a:p>
            <a:pPr marL="795020" lvl="1" indent="-337820"/>
            <a:endParaRPr lang="en-US" dirty="0">
              <a:cs typeface="Arial" panose="020B0604020202020204"/>
            </a:endParaRPr>
          </a:p>
          <a:p>
            <a:pPr marL="344170" indent="-344170"/>
            <a:endParaRPr lang="en-US" dirty="0">
              <a:cs typeface="Arial" panose="020B0604020202020204"/>
            </a:endParaRPr>
          </a:p>
          <a:p>
            <a:pPr marL="795020" lvl="1" indent="-337820"/>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956914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Character</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3159966" y="2634453"/>
            <a:ext cx="6433525" cy="4813489"/>
          </a:xfrm>
        </p:spPr>
        <p:txBody>
          <a:bodyPr>
            <a:normAutofit/>
          </a:bodyPr>
          <a:lstStyle/>
          <a:p>
            <a:pPr marL="344170" indent="-344170"/>
            <a:r>
              <a:rPr lang="en-US" dirty="0">
                <a:cs typeface="Arial" panose="020B0604020202020204"/>
              </a:rPr>
              <a:t>Public Safety</a:t>
            </a:r>
          </a:p>
          <a:p>
            <a:pPr marL="795020" lvl="1" indent="-337820"/>
            <a:r>
              <a:rPr lang="en-US" dirty="0">
                <a:cs typeface="Arial" panose="020B0604020202020204"/>
              </a:rPr>
              <a:t>Toronto Police Service Community Survey (</a:t>
            </a:r>
            <a:r>
              <a:rPr lang="en-US" dirty="0">
                <a:ea typeface="+mn-lt"/>
                <a:cs typeface="+mn-lt"/>
                <a:hlinkClick r:id="rId2"/>
              </a:rPr>
              <a:t>https://www.tps.ca/services/resource-centre/2022-community-survey/</a:t>
            </a:r>
            <a:r>
              <a:rPr lang="en-US" dirty="0">
                <a:ea typeface="+mn-lt"/>
                <a:cs typeface="+mn-lt"/>
              </a:rPr>
              <a:t>)</a:t>
            </a:r>
            <a:endParaRPr lang="en-US" dirty="0">
              <a:cs typeface="Arial" panose="020B0604020202020204"/>
            </a:endParaRPr>
          </a:p>
          <a:p>
            <a:pPr marL="344170" indent="-344170"/>
            <a:r>
              <a:rPr lang="en-US" dirty="0">
                <a:cs typeface="Arial" panose="020B0604020202020204"/>
              </a:rPr>
              <a:t>Look and feel of a community</a:t>
            </a:r>
            <a:endParaRPr lang="en-US" dirty="0"/>
          </a:p>
          <a:p>
            <a:pPr marL="795020" lvl="1" indent="-337820"/>
            <a:r>
              <a:rPr lang="en-US" dirty="0">
                <a:ea typeface="+mn-lt"/>
                <a:cs typeface="+mn-lt"/>
              </a:rPr>
              <a:t>University of Toronto’s Dalla Lana School of Public Health Community Wellbeing Project (</a:t>
            </a:r>
            <a:r>
              <a:rPr lang="en-US" dirty="0">
                <a:ea typeface="+mn-lt"/>
                <a:cs typeface="+mn-lt"/>
                <a:hlinkClick r:id="rId3"/>
              </a:rPr>
              <a:t>https://pophealthanalytics.com/project/cwbsurvey/</a:t>
            </a:r>
            <a:r>
              <a:rPr lang="en-US" dirty="0">
                <a:ea typeface="+mn-lt"/>
                <a:cs typeface="+mn-lt"/>
              </a:rPr>
              <a:t>)</a:t>
            </a:r>
          </a:p>
          <a:p>
            <a:pPr marL="795020" lvl="1" indent="-337820"/>
            <a:endParaRPr lang="en-US" dirty="0">
              <a:cs typeface="Arial" panose="020B0604020202020204"/>
            </a:endParaRPr>
          </a:p>
          <a:p>
            <a:pPr marL="344170" indent="-344170"/>
            <a:endParaRPr lang="en-US" dirty="0">
              <a:cs typeface="Arial" panose="020B0604020202020204"/>
            </a:endParaRPr>
          </a:p>
          <a:p>
            <a:pPr marL="795020" lvl="1" indent="-337820"/>
            <a:endParaRPr lang="en-US" dirty="0">
              <a:cs typeface="Arial" panose="020B0604020202020204"/>
            </a:endParaRPr>
          </a:p>
          <a:p>
            <a:pPr marL="344170" indent="-344170"/>
            <a:endParaRPr lang="en-US" dirty="0">
              <a:cs typeface="Arial" panose="020B0604020202020204"/>
            </a:endParaRPr>
          </a:p>
          <a:p>
            <a:pPr marL="344170" indent="-344170"/>
            <a:endParaRPr lang="en-US" dirty="0">
              <a:cs typeface="Arial" panose="020B0604020202020204"/>
            </a:endParaRP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dirty="0"/>
              <a:t>Complete Communities</a:t>
            </a:r>
          </a:p>
          <a:p>
            <a:endParaRPr lang="en-US" dirty="0">
              <a:cs typeface="Arial"/>
            </a:endParaRP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878133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1D0F0-3D39-EED9-2B9C-CB474E0C8B30}"/>
              </a:ext>
            </a:extLst>
          </p:cNvPr>
          <p:cNvSpPr>
            <a:spLocks noGrp="1"/>
          </p:cNvSpPr>
          <p:nvPr>
            <p:ph type="title"/>
          </p:nvPr>
        </p:nvSpPr>
        <p:spPr/>
        <p:txBody>
          <a:bodyPr/>
          <a:lstStyle/>
          <a:p>
            <a:r>
              <a:rPr lang="en-US" dirty="0">
                <a:cs typeface="Arial"/>
              </a:rPr>
              <a:t>Ontological Representation</a:t>
            </a:r>
            <a:endParaRPr lang="en-US" dirty="0"/>
          </a:p>
        </p:txBody>
      </p:sp>
      <p:sp>
        <p:nvSpPr>
          <p:cNvPr id="3" name="Content Placeholder 2">
            <a:extLst>
              <a:ext uri="{FF2B5EF4-FFF2-40B4-BE49-F238E27FC236}">
                <a16:creationId xmlns:a16="http://schemas.microsoft.com/office/drawing/2014/main" id="{66F0C3B9-93B0-09D1-09A7-51A274C3D541}"/>
              </a:ext>
            </a:extLst>
          </p:cNvPr>
          <p:cNvSpPr>
            <a:spLocks noGrp="1"/>
          </p:cNvSpPr>
          <p:nvPr>
            <p:ph idx="1"/>
          </p:nvPr>
        </p:nvSpPr>
        <p:spPr>
          <a:xfrm>
            <a:off x="1003312" y="1822972"/>
            <a:ext cx="5183970" cy="3997828"/>
          </a:xfrm>
        </p:spPr>
        <p:txBody>
          <a:bodyPr/>
          <a:lstStyle/>
          <a:p>
            <a:pPr marL="344170" indent="-344170"/>
            <a:r>
              <a:rPr lang="en-US" dirty="0">
                <a:cs typeface="Arial"/>
              </a:rPr>
              <a:t>For datasets with geospatial information (e.g. Shapefiles), a class can be created for the entity and the Location pattern from ISO5087-1 can be used to represent its location</a:t>
            </a:r>
          </a:p>
          <a:p>
            <a:pPr marL="795020" lvl="1" indent="-337820"/>
            <a:r>
              <a:rPr lang="en-US" dirty="0">
                <a:cs typeface="Arial"/>
              </a:rPr>
              <a:t>E.g.: Toronto Retirement Home, OpenStreetMap, TDSB Schools datasets</a:t>
            </a:r>
          </a:p>
          <a:p>
            <a:pPr marL="344170" indent="-344170"/>
            <a:endParaRPr lang="en-US" dirty="0">
              <a:cs typeface="Arial"/>
            </a:endParaRPr>
          </a:p>
        </p:txBody>
      </p:sp>
      <p:sp>
        <p:nvSpPr>
          <p:cNvPr id="5" name="Content Placeholder 2">
            <a:extLst>
              <a:ext uri="{FF2B5EF4-FFF2-40B4-BE49-F238E27FC236}">
                <a16:creationId xmlns:a16="http://schemas.microsoft.com/office/drawing/2014/main" id="{5438E18E-AA0D-FFD2-CF41-C40220201FE8}"/>
              </a:ext>
            </a:extLst>
          </p:cNvPr>
          <p:cNvSpPr txBox="1">
            <a:spLocks/>
          </p:cNvSpPr>
          <p:nvPr/>
        </p:nvSpPr>
        <p:spPr>
          <a:xfrm>
            <a:off x="6006754" y="1610470"/>
            <a:ext cx="5183970" cy="3997828"/>
          </a:xfrm>
          <a:prstGeom prst="rect">
            <a:avLst/>
          </a:prstGeom>
        </p:spPr>
        <p:txBody>
          <a:bodyPr vert="horz" lIns="91440" tIns="45720" rIns="91440" bIns="45720" rtlCol="0" anchor="ctr">
            <a:norm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pPr marL="344170" indent="-344170"/>
            <a:r>
              <a:rPr lang="en-US" dirty="0">
                <a:cs typeface="Arial"/>
              </a:rPr>
              <a:t>For datasets with indicator information, the Indicator pattern from ISO21972 can be used to represent them </a:t>
            </a:r>
          </a:p>
          <a:p>
            <a:pPr marL="795020" lvl="1" indent="-337820"/>
            <a:r>
              <a:rPr lang="en-US" dirty="0">
                <a:cs typeface="Arial"/>
              </a:rPr>
              <a:t>E.g.: Census Data, Toronto Elections data, Toronto Police Service Survey data</a:t>
            </a:r>
          </a:p>
          <a:p>
            <a:pPr marL="344170" indent="-344170"/>
            <a:endParaRPr lang="en-US" dirty="0">
              <a:cs typeface="Arial"/>
            </a:endParaRPr>
          </a:p>
        </p:txBody>
      </p:sp>
    </p:spTree>
    <p:extLst>
      <p:ext uri="{BB962C8B-B14F-4D97-AF65-F5344CB8AC3E}">
        <p14:creationId xmlns:p14="http://schemas.microsoft.com/office/powerpoint/2010/main" val="1638408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117FA41-AE03-4A0A-A9B0-817CABD09473}">
  <ds:schemaRefs>
    <ds:schemaRef ds:uri="http://schemas.microsoft.com/sharepoint/v3/contenttype/forms"/>
  </ds:schemaRefs>
</ds:datastoreItem>
</file>

<file path=customXml/itemProps2.xml><?xml version="1.0" encoding="utf-8"?>
<ds:datastoreItem xmlns:ds="http://schemas.openxmlformats.org/officeDocument/2006/customXml" ds:itemID="{52D6F65D-59DB-459C-812A-E954DE5F05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D542F6-3184-4387-BE39-8DA735EB550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427</Words>
  <Application>Microsoft Office PowerPoint</Application>
  <PresentationFormat>Widescreen</PresentationFormat>
  <Paragraphs>131</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Madison</vt:lpstr>
      <vt:lpstr>Complete Communities</vt:lpstr>
      <vt:lpstr>Introduction</vt:lpstr>
      <vt:lpstr>PowerPoint Presentation</vt:lpstr>
      <vt:lpstr>PowerPoint Presentation</vt:lpstr>
      <vt:lpstr>PowerPoint Presentation</vt:lpstr>
      <vt:lpstr>Nine Dimensions</vt:lpstr>
      <vt:lpstr>Competency Questions</vt:lpstr>
      <vt:lpstr>Competency Questions</vt:lpstr>
      <vt:lpstr>Competency Questions</vt:lpstr>
      <vt:lpstr>Competency Questions</vt:lpstr>
      <vt:lpstr>Competency Questions</vt:lpstr>
      <vt:lpstr>Housing</vt:lpstr>
      <vt:lpstr>Transportation</vt:lpstr>
      <vt:lpstr>Amenities</vt:lpstr>
      <vt:lpstr>Green Spaces</vt:lpstr>
      <vt:lpstr>Economy</vt:lpstr>
      <vt:lpstr>Engagement</vt:lpstr>
      <vt:lpstr>Diversity</vt:lpstr>
      <vt:lpstr>Density</vt:lpstr>
      <vt:lpstr>Character</vt:lpstr>
      <vt:lpstr>Ontological Representation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
  <dc:creator/>
  <cp:lastModifiedBy/>
  <cp:revision>879</cp:revision>
  <dcterms:created xsi:type="dcterms:W3CDTF">2023-10-18T18:44:24Z</dcterms:created>
  <dcterms:modified xsi:type="dcterms:W3CDTF">2026-03-19T17:40:11Z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